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3fb6591bae546d1" /><Relationship Type="http://schemas.openxmlformats.org/officeDocument/2006/relationships/extended-properties" Target="/docProps/app.xml" Id="R5d911f3394294711" /><Relationship Type="http://schemas.openxmlformats.org/officeDocument/2006/relationships/officeDocument" Target="/ppt/presentation.xml" Id="R60e211a06aa74d85" /></Relationships>
</file>

<file path=ppt/presentation.xml><?xml version="1.0" encoding="utf-8"?>
<p:presentation xmlns:p="http://schemas.openxmlformats.org/presentationml/2006/main">
  <p:sldMasterIdLst>
    <p:sldMasterId xmlns:r="http://schemas.openxmlformats.org/officeDocument/2006/relationships" id="2147483648" r:id="R5e55fc761d5148e3"/>
  </p:sldMasterIdLst>
  <p:notesMasterIdLst>
    <p:notesMasterId xmlns:r="http://schemas.openxmlformats.org/officeDocument/2006/relationships" r:id="Rb9d9c095832b401f"/>
  </p:notesMasterIdLst>
  <p:sldIdLst>
    <p:sldId xmlns:r="http://schemas.openxmlformats.org/officeDocument/2006/relationships" id="256" r:id="R753e07e85dbd4792"/>
    <p:sldId xmlns:r="http://schemas.openxmlformats.org/officeDocument/2006/relationships" id="257" r:id="R923f261ef00341dd"/>
    <p:sldId xmlns:r="http://schemas.openxmlformats.org/officeDocument/2006/relationships" id="258" r:id="Rd816d3daf4b14a2a"/>
    <p:sldId xmlns:r="http://schemas.openxmlformats.org/officeDocument/2006/relationships" id="259" r:id="R24fe486f57dc418a"/>
    <p:sldId xmlns:r="http://schemas.openxmlformats.org/officeDocument/2006/relationships" id="260" r:id="R220c1a477f344c01"/>
    <p:sldId xmlns:r="http://schemas.openxmlformats.org/officeDocument/2006/relationships" id="261" r:id="Rbc8188f0633a4aa0"/>
    <p:sldId xmlns:r="http://schemas.openxmlformats.org/officeDocument/2006/relationships" id="262" r:id="R08e4d93fb54e4bd6"/>
    <p:sldId xmlns:r="http://schemas.openxmlformats.org/officeDocument/2006/relationships" id="263" r:id="R5d9056cb79be47bd"/>
    <p:sldId xmlns:r="http://schemas.openxmlformats.org/officeDocument/2006/relationships" id="264" r:id="Rb3be1672acba4a49"/>
    <p:sldId xmlns:r="http://schemas.openxmlformats.org/officeDocument/2006/relationships" id="265" r:id="R1907939e285c4a8a"/>
    <p:sldId xmlns:r="http://schemas.openxmlformats.org/officeDocument/2006/relationships" id="266" r:id="R710b07fd33464c4c"/>
    <p:sldId xmlns:r="http://schemas.openxmlformats.org/officeDocument/2006/relationships" id="267" r:id="Re69a083762ff45b7"/>
    <p:sldId xmlns:r="http://schemas.openxmlformats.org/officeDocument/2006/relationships" id="268" r:id="Rc8898af3daed4d38"/>
    <p:sldId xmlns:r="http://schemas.openxmlformats.org/officeDocument/2006/relationships" id="269" r:id="Rc7317ef25f4246b1"/>
    <p:sldId xmlns:r="http://schemas.openxmlformats.org/officeDocument/2006/relationships" id="270" r:id="R8b2a68460ba143ca"/>
    <p:sldId xmlns:r="http://schemas.openxmlformats.org/officeDocument/2006/relationships" id="271" r:id="R74203b2fdd1a4a32"/>
    <p:sldId xmlns:r="http://schemas.openxmlformats.org/officeDocument/2006/relationships" id="272" r:id="Rba86d52f7d1645b6"/>
    <p:sldId xmlns:r="http://schemas.openxmlformats.org/officeDocument/2006/relationships" id="273" r:id="Rce85c6cd4cc74e0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3a752fae7814e07" /><Relationship Type="http://schemas.openxmlformats.org/officeDocument/2006/relationships/slideMaster" Target="/ppt/slideMasters/slideMaster1.xml" Id="R5e55fc761d5148e3" /><Relationship Type="http://schemas.openxmlformats.org/officeDocument/2006/relationships/notesMaster" Target="/ppt/notesMasters/notesMaster1.xml" Id="Rb9d9c095832b401f" /><Relationship Type="http://schemas.openxmlformats.org/officeDocument/2006/relationships/presProps" Target="/ppt/presProps.xml" Id="R84b6821618b447de" /><Relationship Type="http://schemas.openxmlformats.org/officeDocument/2006/relationships/tableStyles" Target="/ppt/tableStyles.xml" Id="Rc04ae9bddf23463b" /><Relationship Type="http://schemas.openxmlformats.org/officeDocument/2006/relationships/slide" Target="/ppt/slides/slide1.xml" Id="R753e07e85dbd4792" /><Relationship Type="http://schemas.openxmlformats.org/officeDocument/2006/relationships/slide" Target="/ppt/slides/slide2.xml" Id="R923f261ef00341dd" /><Relationship Type="http://schemas.openxmlformats.org/officeDocument/2006/relationships/slide" Target="/ppt/slides/slide3.xml" Id="Rd816d3daf4b14a2a" /><Relationship Type="http://schemas.openxmlformats.org/officeDocument/2006/relationships/slide" Target="/ppt/slides/slide4.xml" Id="R24fe486f57dc418a" /><Relationship Type="http://schemas.openxmlformats.org/officeDocument/2006/relationships/slide" Target="/ppt/slides/slide5.xml" Id="R220c1a477f344c01" /><Relationship Type="http://schemas.openxmlformats.org/officeDocument/2006/relationships/slide" Target="/ppt/slides/slide6.xml" Id="Rbc8188f0633a4aa0" /><Relationship Type="http://schemas.openxmlformats.org/officeDocument/2006/relationships/slide" Target="/ppt/slides/slide7.xml" Id="R08e4d93fb54e4bd6" /><Relationship Type="http://schemas.openxmlformats.org/officeDocument/2006/relationships/slide" Target="/ppt/slides/slide8.xml" Id="R5d9056cb79be47bd" /><Relationship Type="http://schemas.openxmlformats.org/officeDocument/2006/relationships/slide" Target="/ppt/slides/slide9.xml" Id="Rb3be1672acba4a49" /><Relationship Type="http://schemas.openxmlformats.org/officeDocument/2006/relationships/slide" Target="/ppt/slides/slide10.xml" Id="R1907939e285c4a8a" /><Relationship Type="http://schemas.openxmlformats.org/officeDocument/2006/relationships/slide" Target="/ppt/slides/slide11.xml" Id="R710b07fd33464c4c" /><Relationship Type="http://schemas.openxmlformats.org/officeDocument/2006/relationships/slide" Target="/ppt/slides/slide12.xml" Id="Re69a083762ff45b7" /><Relationship Type="http://schemas.openxmlformats.org/officeDocument/2006/relationships/slide" Target="/ppt/slides/slide13.xml" Id="Rc8898af3daed4d38" /><Relationship Type="http://schemas.openxmlformats.org/officeDocument/2006/relationships/slide" Target="/ppt/slides/slide14.xml" Id="Rc7317ef25f4246b1" /><Relationship Type="http://schemas.openxmlformats.org/officeDocument/2006/relationships/slide" Target="/ppt/slides/slide15.xml" Id="R8b2a68460ba143ca" /><Relationship Type="http://schemas.openxmlformats.org/officeDocument/2006/relationships/slide" Target="/ppt/slides/slide16.xml" Id="R74203b2fdd1a4a32" /><Relationship Type="http://schemas.openxmlformats.org/officeDocument/2006/relationships/slide" Target="/ppt/slides/slide17.xml" Id="Rba86d52f7d1645b6" /><Relationship Type="http://schemas.openxmlformats.org/officeDocument/2006/relationships/slide" Target="/ppt/slides/slide18.xml" Id="Rce85c6cd4cc74e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c3a200a66f84bc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e900b8f45594b9c" /><Relationship Type="http://schemas.openxmlformats.org/officeDocument/2006/relationships/notesMaster" Target="/ppt/notesMasters/notesMaster1.xml" Id="R4e286ee7ceeb4e2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4b197b6caa48a9" /><Relationship Type="http://schemas.openxmlformats.org/officeDocument/2006/relationships/notesMaster" Target="/ppt/notesMasters/notesMaster1.xml" Id="R8d6230227f614e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56be5a63f241cd" /><Relationship Type="http://schemas.openxmlformats.org/officeDocument/2006/relationships/notesMaster" Target="/ppt/notesMasters/notesMaster1.xml" Id="R640d30eeb3844894"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30197e896048b7" /><Relationship Type="http://schemas.openxmlformats.org/officeDocument/2006/relationships/notesMaster" Target="/ppt/notesMasters/notesMaster1.xml" Id="Rc9ac3342277c4a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9f88dbd4b7947c4" /><Relationship Type="http://schemas.openxmlformats.org/officeDocument/2006/relationships/notesMaster" Target="/ppt/notesMasters/notesMaster1.xml" Id="R9b52e836a48947c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c4dc5a8c2f4063" /><Relationship Type="http://schemas.openxmlformats.org/officeDocument/2006/relationships/notesMaster" Target="/ppt/notesMasters/notesMaster1.xml" Id="Rc95bb45d99474e5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a1f18af227f44a1" /><Relationship Type="http://schemas.openxmlformats.org/officeDocument/2006/relationships/notesMaster" Target="/ppt/notesMasters/notesMaster1.xml" Id="Rc4ec26cdaefd4e23" /></Relationships>
</file>

<file path=ppt/notesSlides/_rels/notesSlide8.xml.rels>&#65279;<?xml version="1.0" encoding="utf-8"?><Relationships xmlns="http://schemas.openxmlformats.org/package/2006/relationships"><Relationship Type="http://schemas.openxmlformats.org/officeDocument/2006/relationships/slide" Target="/ppt/slides/slide8.xml" Id="R721ec54f995547b7" /><Relationship Type="http://schemas.openxmlformats.org/officeDocument/2006/relationships/notesMaster" Target="/ppt/notesMasters/notesMaster1.xml" Id="R6fff072104d446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0974e3b9bbba4fb3" /><Relationship Type="http://schemas.openxmlformats.org/officeDocument/2006/relationships/notesMaster" Target="/ppt/notesMasters/notesMaster1.xml" Id="R7315a762bf424ea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a3b9f0657b84a14" /><Relationship Type="http://schemas.openxmlformats.org/officeDocument/2006/relationships/notesMaster" Target="/ppt/notesMasters/notesMaster1.xml" Id="R8723f408102e46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ba60f4829ca401c" /><Relationship Type="http://schemas.openxmlformats.org/officeDocument/2006/relationships/notesMaster" Target="/ppt/notesMasters/notesMaster1.xml" Id="R78c19d61d33540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7d8b0b4874d4121" /><Relationship Type="http://schemas.openxmlformats.org/officeDocument/2006/relationships/notesMaster" Target="/ppt/notesMasters/notesMaster1.xml" Id="Rf69d260b0dfa423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38abfcd0bda451d" /><Relationship Type="http://schemas.openxmlformats.org/officeDocument/2006/relationships/notesMaster" Target="/ppt/notesMasters/notesMaster1.xml" Id="Rd9ca33e3731b4d8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89bfc7028a84a75" /><Relationship Type="http://schemas.openxmlformats.org/officeDocument/2006/relationships/notesMaster" Target="/ppt/notesMasters/notesMaster1.xml" Id="R193300dd0a82434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58af960bfc14e4e" /><Relationship Type="http://schemas.openxmlformats.org/officeDocument/2006/relationships/notesMaster" Target="/ppt/notesMasters/notesMaster1.xml" Id="Rf1f098d82dc040a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da4ae59f4be4b09" /><Relationship Type="http://schemas.openxmlformats.org/officeDocument/2006/relationships/notesMaster" Target="/ppt/notesMasters/notesMaster1.xml" Id="Rc082d66ce97c44e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4d8307199cb43f1" /><Relationship Type="http://schemas.openxmlformats.org/officeDocument/2006/relationships/notesMaster" Target="/ppt/notesMasters/notesMaster1.xml" Id="R31c30456e53042b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d8720944b58484c" /><Relationship Type="http://schemas.openxmlformats.org/officeDocument/2006/relationships/notesMaster" Target="/ppt/notesMasters/notesMaster1.xml" Id="R86a47608affd4b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0:00–0:20</a:t>
            </a:r>
          </a:p>
          <a:p xmlns:a="http://schemas.openxmlformats.org/drawingml/2006/main">
            <a:r>
              <a:t/>
            </a:r>
          </a:p>
          <a:p xmlns:a="http://schemas.openxmlformats.org/drawingml/2006/main">
            <a:r>
              <a:t>Hello everyone. Today I will present Switch Attention. Our question is simple: can a transformer decide when it needs global context, separately for each token and each layer? We study this through dynamic routing between full attention and sliding window attention.</a:t>
            </a:r>
          </a:p>
          <a:p xmlns:a="http://schemas.openxmlformats.org/drawingml/2006/main">
            <a:r>
              <a:t/>
            </a:r>
          </a:p>
          <a:p xmlns:a="http://schemas.openxmlformats.org/drawingml/2006/main">
            <a:r>
              <a:t>讲述提示：0:00–0:20。开场直接抛出研究问题，不口述全部作者与单位。</a:t>
            </a:r>
          </a:p>
          <a:p xmlns:a="http://schemas.openxmlformats.org/drawingml/2006/main">
            <a:r>
              <a:t/>
            </a:r>
          </a:p>
          <a:p xmlns:a="http://schemas.openxmlformats.org/drawingml/2006/main">
            <a:r>
              <a:t>Talk: 9:30. Q&amp;A: 2:30. Total: 12:00, per presenter confirmation.</a:t>
            </a:r>
          </a:p>
          <a:p xmlns:a="http://schemas.openxmlformats.org/drawingml/2006/main">
            <a:r>
              <a:t>Paper authors and affiliations: supplied PDF, page 1.</a:t>
            </a:r>
          </a:p>
          <a:p xmlns:a="http://schemas.openxmlformats.org/drawingml/2006/main">
            <a:r>
              <a:t>First three authors contributed during internships at Huawei. Corresponding authors: Jingyang Yuan, Meng Zhang, Ming Zhang.</a:t>
            </a:r>
          </a:p>
          <a:p xmlns:a="http://schemas.openxmlformats.org/drawingml/2006/main">
            <a:r>
              <a:t>https://arxiv.org/abs/2603.26380</a:t>
            </a:r>
          </a:p>
          <a:p xmlns:a="http://schemas.openxmlformats.org/drawingml/2006/main">
            <a:r>
              <a:t>Official conference assets: https://drive.google.com/drive/folders/1_IX04T09KVmBr1rF9LOv11slD-ZmH5ne?usp=sharing</a:t>
            </a:r>
          </a:p>
          <a:p xmlns:a="http://schemas.openxmlformats.org/drawingml/2006/main">
            <a:r>
              <a:t>Speaker guidelines: https://docs.google.com/presentation/d/1csfkuRIhVSjRX_zn3f1SBgvjuzoXyye_Cjx9QW44e4E/edit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0:20–1:05 (45 seconds)</a:t>
            </a:r>
          </a:p>
          <a:p xmlns:a="http://schemas.openxmlformats.org/drawingml/2006/main">
            <a:r>
              <a:t/>
            </a:r>
          </a:p>
          <a:p xmlns:a="http://schemas.openxmlformats.org/drawingml/2006/main">
            <a:r>
              <a:t>Full attention lets a token access the entire preceding context, but its cost grows with context length. Sliding window attention limits this access to recent tokens, making local computation cheaper. The tradeoff is losing direct access to distant information. A common compromise assigns full attention to some layers and sliding windows to others. But this schedule is fixed before seeing the input. It spends the same pattern of global computation on an easy local continuation and on a question that requires retrieving something far away.</a:t>
            </a:r>
          </a:p>
          <a:p xmlns:a="http://schemas.openxmlformats.org/drawingml/2006/main">
            <a:r>
              <a:t/>
            </a:r>
          </a:p>
          <a:p xmlns:a="http://schemas.openxmlformats.org/drawingml/2006/main">
            <a:r>
              <a:t>讲述提示：0:20–1:05。指向 global / local，再指向固定层交替模式；落点是输入变化而计算分配不变。</a:t>
            </a:r>
          </a:p>
          <a:p xmlns:a="http://schemas.openxmlformats.org/drawingml/2006/main">
            <a:r>
              <a:t/>
            </a:r>
          </a:p>
          <a:p xmlns:a="http://schemas.openxmlformats.org/drawingml/2006/main">
            <a:r>
              <a:t>Sources: Paper §1–2, pages 1–3. Complexity here refers to attention computation during prefill, for fixed model dimensions.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1:05–1:50 (45 seconds)</a:t>
            </a:r>
          </a:p>
          <a:p xmlns:a="http://schemas.openxmlformats.org/drawingml/2006/main">
            <a:r>
              <a:t/>
            </a:r>
          </a:p>
          <a:p xmlns:a="http://schemas.openxmlformats.org/drawingml/2006/main">
            <a:r>
              <a:t>Switch Attention changes the unit of this decision. Instead of assigning an attention type to a whole layer, we make a separate choice for each token at each layer. In this diagram, the static model uses the same pattern across tokens. In our model, the pattern can change across both dimensions. A token can receive global information at one layer and use a local window at another. The aim is to retain access to distant information while learning where that access is actually useful for prediction.</a:t>
            </a:r>
          </a:p>
          <a:p xmlns:a="http://schemas.openxmlformats.org/drawingml/2006/main">
            <a:r>
              <a:t/>
            </a:r>
          </a:p>
          <a:p xmlns:a="http://schemas.openxmlformats.org/drawingml/2006/main">
            <a:r>
              <a:t>讲述提示：1:05–1:50。沿图的 token 轴与 layer 轴各指一次。不要把颜色解读为独立专家或不同参数组。</a:t>
            </a:r>
          </a:p>
          <a:p xmlns:a="http://schemas.openxmlformats.org/drawingml/2006/main">
            <a:r>
              <a:t/>
            </a:r>
          </a:p>
          <a:p xmlns:a="http://schemas.openxmlformats.org/drawingml/2006/main">
            <a:r>
              <a:t>Sources: Paper Figure 1, page 1. Diagram reused from the supplied paper.</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1:50–2:45 (55 seconds)</a:t>
            </a:r>
          </a:p>
          <a:p xmlns:a="http://schemas.openxmlformats.org/drawingml/2006/main">
            <a:r>
              <a:t/>
            </a:r>
          </a:p>
          <a:p xmlns:a="http://schemas.openxmlformats.org/drawingml/2006/main">
            <a:r>
              <a:t>At inference, the router is a linear mapping of the current hidden representation, followed by a sigmoid. A probability above one half selects full attention; otherwise, it selects the sliding window. Both branches share the query, key, and value projections and one KV cache. During decoding, we compute only the selected attention branch for the current token. The decision therefore does not require first evaluating both alternatives. The selected branch still performs its usual attention operation. What changes is which context range this token reads, based on information already available in its hidden representation.</a:t>
            </a:r>
          </a:p>
          <a:p xmlns:a="http://schemas.openxmlformats.org/drawingml/2006/main">
            <a:r>
              <a:t/>
            </a:r>
          </a:p>
          <a:p xmlns:a="http://schemas.openxmlformats.org/drawingml/2006/main">
            <a:r>
              <a:t>讲述提示：1:50–2:45。按 hidden state → router → selected branch 讲。强调 only selected branch 指推理，避免与下一页训练混淆。</a:t>
            </a:r>
          </a:p>
          <a:p xmlns:a="http://schemas.openxmlformats.org/drawingml/2006/main">
            <a:r>
              <a:t/>
            </a:r>
          </a:p>
          <a:p xmlns:a="http://schemas.openxmlformats.org/drawingml/2006/main">
            <a:r>
              <a:t>Sources: Paper §3.2, Equations 1–6 and Figure 2(b), pages 3–4. One scalar gate for each token at each layer, shared across heads.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2:45–3:50 (65 seconds)</a:t>
            </a:r>
          </a:p>
          <a:p xmlns:a="http://schemas.openxmlformats.org/drawingml/2006/main">
            <a:r>
              <a:t/>
            </a:r>
          </a:p>
          <a:p xmlns:a="http://schemas.openxmlformats.org/drawingml/2006/main">
            <a:r>
              <a:t>How do we encourage efficiency without forcing every token into the local branch? We add a softplus penalty to the router logit. Reducing this penalty term pushes the router toward sliding window attention. Its weight is adaptive. The numerator is a fixed base weight; the denominator combines a small constant, the token prediction loss, and the disagreement between the two attention outputs. If prediction is difficult, or the branches disagree strongly, the denominator grows and the efficiency penalty becomes weaker. This gives the model more freedom to choose full attention. These signals are used only during training. At inference, routing uses the hidden representation alone, with no ground truth or future tokens.</a:t>
            </a:r>
          </a:p>
          <a:p xmlns:a="http://schemas.openxmlformats.org/drawingml/2006/main">
            <a:r>
              <a:t/>
            </a:r>
          </a:p>
          <a:p xmlns:a="http://schemas.openxmlformats.org/drawingml/2006/main">
            <a:r>
              <a:t>讲述提示：2:45–3:50。只解释分母变大→惩罚减弱这一条因果链，不逐符号朗读公式。训练标签与推理信息边界必须说清。</a:t>
            </a:r>
          </a:p>
          <a:p xmlns:a="http://schemas.openxmlformats.org/drawingml/2006/main">
            <a:r>
              <a:t/>
            </a:r>
          </a:p>
          <a:p xmlns:a="http://schemas.openxmlformats.org/drawingml/2006/main">
            <a:r>
              <a:t>Sources: Paper §3.3, Equations 7–9, pages 4–5. MSE denotes the squared difference between full and SWA branch outputs. NLL uses the teacher-forced target only in CPT.</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3:50–4:40 (50 seconds)</a:t>
            </a:r>
          </a:p>
          <a:p xmlns:a="http://schemas.openxmlformats.org/drawingml/2006/main">
            <a:r>
              <a:t/>
            </a:r>
          </a:p>
          <a:p xmlns:a="http://schemas.openxmlformats.org/drawingml/2006/main">
            <a:r>
              <a:t>We initialize from a pretrained full attention model and update the whole model through continual pretraining. During training, both attention branches are computed. A hard gate selects the output, and a straight-through estimator lets the router receive gradients. Our main model has one point five billion parameters, twenty-two layers, and a window of one thousand twenty-four tokens. Conversion uses twenty billion tokens for the four-K setting and eight billion tokens for the thirty-two-K setting. Evaluation covers twenty-three datasets, including commonsense reasoning, in-context retrieval, and long-context understanding. I will focus on the results that require longer-range access.</a:t>
            </a:r>
          </a:p>
          <a:p xmlns:a="http://schemas.openxmlformats.org/drawingml/2006/main">
            <a:r>
              <a:t/>
            </a:r>
          </a:p>
          <a:p xmlns:a="http://schemas.openxmlformats.org/drawingml/2006/main">
            <a:r>
              <a:t>讲述提示：3:50–4:40。training computes both 与 inference computes selected 对应起来。参数和训练量指表格带过。</a:t>
            </a:r>
          </a:p>
          <a:p xmlns:a="http://schemas.openxmlformats.org/drawingml/2006/main">
            <a:r>
              <a:t/>
            </a:r>
          </a:p>
          <a:p xmlns:a="http://schemas.openxmlformats.org/drawingml/2006/main">
            <a:r>
              <a:t>Sources: Paper §3.4 and §4.1, pages 5–7. 4K: 240B-token full-attention pretraining plus 20B CPT. 32K: 192B at 4K, 24B context extension, then 8B CPT. Whole hybrid transformer updated. Original Figure 2(a).</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4:40–5:30 (50 seconds)</a:t>
            </a:r>
          </a:p>
          <a:p xmlns:a="http://schemas.openxmlformats.org/drawingml/2006/main">
            <a:r>
              <a:t/>
            </a:r>
          </a:p>
          <a:p xmlns:a="http://schemas.openxmlformats.org/drawingml/2006/main">
            <a:r>
              <a:t>First, consider retrieval within a four-K context. Some questions need information beyond the local window, so using sliding windows everywhere can lose useful evidence. Across the six datasets in this comparison, Switch Attention and the full attention baseline both have a reported average of fifty-two point nine. The static hybrid baseline scores fifty point six. That is a gain of two point three points over the fixed schedule. Individual datasets show different tradeoffs, but the aggregate result suggests that learned routing can preserve retrieval quality better than this static allocation of attention.</a:t>
            </a:r>
          </a:p>
          <a:p xmlns:a="http://schemas.openxmlformats.org/drawingml/2006/main">
            <a:r>
              <a:t/>
            </a:r>
          </a:p>
          <a:p xmlns:a="http://schemas.openxmlformats.org/drawingml/2006/main">
            <a:r>
              <a:t>讲述提示：4:40–5:30。先指 Full 与 Swi 的同值，再指 SH 的差距。说 points，不说 percent。</a:t>
            </a:r>
          </a:p>
          <a:p xmlns:a="http://schemas.openxmlformats.org/drawingml/2006/main">
            <a:r>
              <a:t/>
            </a:r>
          </a:p>
          <a:p xmlns:a="http://schemas.openxmlformats.org/drawingml/2006/main">
            <a:r>
              <a:t>Sources: Paper Table 2, page 7. Six-dataset average. 52.9 − 50.6 = 2.3 score points. FullAttn does not receive the same extra CPT as the adapted models.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5:30–6:20 (50 seconds)</a:t>
            </a:r>
          </a:p>
          <a:p xmlns:a="http://schemas.openxmlformats.org/drawingml/2006/main">
            <a:r>
              <a:t/>
            </a:r>
          </a:p>
          <a:p xmlns:a="http://schemas.openxmlformats.org/drawingml/2006/main">
            <a:r>
              <a:t>The same pattern appears on LongBench-E, where inputs can reach thirty-two thousand tokens. Switch Attention and full attention both report an average score of thirty-seven point four. The static hybrid scores thirty-five point two, and DuoAttention scores thirty-three point nine. Relative to the static hybrid, our gain is two point two points. These equal averages do not mean that every task has the same outcome, or establish statistical equivalence by themselves. They show that, under this evaluation setup, the overall long-context score is preserved while the model can choose cheaper local attention.</a:t>
            </a:r>
          </a:p>
          <a:p xmlns:a="http://schemas.openxmlformats.org/drawingml/2006/main">
            <a:r>
              <a:t/>
            </a:r>
          </a:p>
          <a:p xmlns:a="http://schemas.openxmlformats.org/drawingml/2006/main">
            <a:r>
              <a:t>讲述提示：5:30–6:20。限定为 reported average parity；不要宣称每项一致或由平均数证明统计等价。</a:t>
            </a:r>
          </a:p>
          <a:p xmlns:a="http://schemas.openxmlformats.org/drawingml/2006/main">
            <a:r>
              <a:t/>
            </a:r>
          </a:p>
          <a:p xmlns:a="http://schemas.openxmlformats.org/drawingml/2006/main">
            <a:r>
              <a:t>Sources: Paper Table 3, page 7. Seven-dataset average: 37.4 for both FullAttn and SwiAttn after rounding. Improvements vary across tasks. Table 10: 37.4±0.35 versus 35.2±0.44 for SH (3:1), p&lt;0.01. Failure to reject a difference with FullAttn is not an equivalence proof.</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6:20–7:25 (65 seconds)</a:t>
            </a:r>
          </a:p>
          <a:p xmlns:a="http://schemas.openxmlformats.org/drawingml/2006/main">
            <a:r>
              <a:t/>
            </a:r>
          </a:p>
          <a:p xmlns:a="http://schemas.openxmlformats.org/drawingml/2006/main">
            <a:r>
              <a:t>Does routing actually respond to the input? In needle-in-a-haystack retrieval, we move the target information to different positions and measure routing while the model generates the answer. When the needle lies outside the local window, full attention is used about thirty percent of the time. When it lies inside the window, that falls to about five percent. The model achieves one hundred percent retrieval accuracy over the tested grid. The horizontal axis moves the needle toward the end of the prompt. The different curves use different context lengths, so they enter the local window at different depths. The drop in global attention follows this change in where the relevant information is available.</a:t>
            </a:r>
          </a:p>
          <a:p xmlns:a="http://schemas.openxmlformats.org/drawingml/2006/main">
            <a:r>
              <a:t/>
            </a:r>
          </a:p>
          <a:p xmlns:a="http://schemas.openxmlformats.org/drawingml/2006/main">
            <a:r>
              <a:t>讲述提示：6:20–7:25。讲清横轴是needle位置，越往右越靠近prompt末端。不同长度进入window的深度不同。100%仅限测试网格。</a:t>
            </a:r>
          </a:p>
          <a:p xmlns:a="http://schemas.openxmlformats.org/drawingml/2006/main">
            <a:r>
              <a:t/>
            </a:r>
          </a:p>
          <a:p xmlns:a="http://schemas.openxmlformats.org/drawingml/2006/main">
            <a:r>
              <a:t>Sources: Paper Figure 6, page 9, reused without digitizing. Full-attention ratios approximately 30% outside the window and 5% inside during answer generation. Tested NIAH accuracy: Table 7, page 20. This distribution differs from Figure 5 CPT routing statistics.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7:25–8:25 (60 seconds)</a:t>
            </a:r>
          </a:p>
          <a:p xmlns:a="http://schemas.openxmlformats.org/drawingml/2006/main">
            <a:r>
              <a:t/>
            </a:r>
          </a:p>
          <a:p xmlns:a="http://schemas.openxmlformats.org/drawingml/2006/main">
            <a:r>
              <a:t>The efficiency result is easiest to interpret as the number of KV tokens accessed during decoding. At a thirty-two-K position, full attention accesses thirty-two-K tokens. Switch Attention averages seven point three-K in the standard setting, or about four point four times fewer. In the simple setting, this falls to two point six-K, about twelve times fewer. The difference between these settings is consistent with input-dependent routing. Global reads are concentrated where the learned router chooses to use them, rather than following a fixed schedule. These figures measure the amount of KV access, not the capacity of the stored cache. They also do not directly measure end-to-end speedup. Actual latency depends on the implementation, hardware, and the rest of the model.</a:t>
            </a:r>
          </a:p>
          <a:p xmlns:a="http://schemas.openxmlformats.org/drawingml/2006/main">
            <a:r>
              <a:t/>
            </a:r>
          </a:p>
          <a:p xmlns:a="http://schemas.openxmlformats.org/drawingml/2006/main">
            <a:r>
              <a:t>讲述提示：7:25–8:25。逐组解释32/7.3和32/2.6。必须说 KV access，不能说 cache memory reduction 或12倍速度。</a:t>
            </a:r>
          </a:p>
          <a:p xmlns:a="http://schemas.openxmlformats.org/drawingml/2006/main">
            <a:r>
              <a:t/>
            </a:r>
          </a:p>
          <a:p xmlns:a="http://schemas.openxmlformats.org/drawingml/2006/main">
            <a:r>
              <a:t>Sources: Paper Figure 4(b), page 8. Average tokens accessed per layer at 32K decode: FullAttn 32K, standard SwiAttn 7.3K, simple SwiAttn 2.6K. Ratios 32/7.3≈4.4 and 32/2.6≈12.3. Simple is NIAH with needle inside the sliding window. This metric is not end-to-end latency or KV-cache storage.</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8:25–9:00 (35 seconds)</a:t>
            </a:r>
          </a:p>
          <a:p xmlns:a="http://schemas.openxmlformats.org/drawingml/2006/main">
            <a:r>
              <a:t/>
            </a:r>
          </a:p>
          <a:p xmlns:a="http://schemas.openxmlformats.org/drawingml/2006/main">
            <a:r>
              <a:t>There are practical costs and limits. In the reported thirty-two-K training measurement, computing both branches adds eight point four percent forward overhead and seven point nine percent backward overhead per layer. The model still stores the full KV history for possible future global reads. Experiments cover models up to three billion parameters, and this study does not report a measured end-to-end inference speedup.</a:t>
            </a:r>
          </a:p>
          <a:p xmlns:a="http://schemas.openxmlformats.org/drawingml/2006/main">
            <a:r>
              <a:t/>
            </a:r>
          </a:p>
          <a:p xmlns:a="http://schemas.openxmlformats.org/drawingml/2006/main">
            <a:r>
              <a:t>讲述提示：8:25–9:00。限制直接说明；不展开 kernel 推导。若被问硬件实现，转备份页。</a:t>
            </a:r>
          </a:p>
          <a:p xmlns:a="http://schemas.openxmlformats.org/drawingml/2006/main">
            <a:r>
              <a:t/>
            </a:r>
          </a:p>
          <a:p xmlns:a="http://schemas.openxmlformats.org/drawingml/2006/main">
            <a:r>
              <a:t>Sources: Paper Tables 8–9, pages 20–21; Limitations, page 9. CPT numbers are measured per layer at 32K: forward0.0595→0.0645 s (+8.4%), backward0.1459→0.1574 s (+7.9%). No inference latency results are reported. Models tested up to3B.</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9:00–9:30 (30 seconds)</a:t>
            </a:r>
          </a:p>
          <a:p xmlns:a="http://schemas.openxmlformats.org/drawingml/2006/main">
            <a:r>
              <a:t/>
            </a:r>
          </a:p>
          <a:p xmlns:a="http://schemas.openxmlformats.org/drawingml/2006/main">
            <a:r>
              <a:t>The main takeaway is that global attention can be allocated according to the input, at the level of individual tokens and layers. Switch Attention learns this allocation through continual pretraining and adaptive regularization, while preserving the reported average quality on retrieval and long-context benchmarks. Our kernel implementation is available at the link on this slide. Thank you. I am happy to take questions.</a:t>
            </a:r>
          </a:p>
          <a:p xmlns:a="http://schemas.openxmlformats.org/drawingml/2006/main">
            <a:r>
              <a:t/>
            </a:r>
          </a:p>
          <a:p xmlns:a="http://schemas.openxmlformats.org/drawingml/2006/main">
            <a:r>
              <a:t>讲述提示：9:00–9:30。停在结论与代码链接页，保留最后2分30秒问答。代码地址不逐字符朗读。</a:t>
            </a:r>
          </a:p>
          <a:p xmlns:a="http://schemas.openxmlformats.org/drawingml/2006/main">
            <a:r>
              <a:t/>
            </a:r>
          </a:p>
          <a:p xmlns:a="http://schemas.openxmlformats.org/drawingml/2006/main">
            <a:r>
              <a:t>Sources: Paper conclusion, Tables 2–3, Figure 4(b), pages7–9. Main talk concludes at9:30. Reserve2:30 for audience questions. Backup slides13–18 support Q&amp;A. Kernel link is from paper abstract.</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Equations1–6, pages4–5. The STE identity has hard forward values and soft sigmoid gradients. At inference no NLL, target token, or MSE is needed.</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Table4, page8. Average of GovReport, MultiNews, SAMSum. The reported ablations do not include matching routing or compute budgets, so this is not an equal-compute comparison.</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AppendixI, Tables5–6, pages20–21. 3B:28layers, hidden2048,16queryheads,4KVheads,FFN9216. Same hyperparameters and training schedule as1.5B without scale-specific tuning. LongBench-E here has five datasets, unlike seven in main1.5B results.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Figure3 and §4.4, page8; Table7 AppendixJ,page20. Grid:35contextlengths ×35depths ×3repeats=3,675cases per method under the reported setting. Generalization outside the tested setting is not established.</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§3.5, Equations10–11,pages6; AppendixB,pages15–16. Approximate BF16 arithmetic intensity excludes lower-order traffic. Query-head thread blocks each issue their own KV loads under the same accounting. Kernel implementation does not establish end-to-end latency speedup.</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Table3,page7 and Table10,AppendixL,page21. Full results for the seven1.5BLongBench-E datasets. Aggregate rounded averages do not imply equal scores per task. Table10reports three runs and two-sidedWelcht-tests.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8e056aa751647b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a85b76da1c94a0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d3d4870e877c42b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39d5e9a0dd4f0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2a3a218459445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3b2ffb423ea44f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C3EDCA8-F1CE-41C7-8579-94A7BC5B97E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3ECED7A-A96B-4BB5-8BA3-DE6517EBBA4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CDBD49D-48B4-48C9-8203-EA57AB16101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F46797-78D9-4363-B285-7D5BDB5B616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1DD6F3E-71AC-4052-ADD2-E03EC539A21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CAE40FE-3958-4D76-BB3F-BBC52EDA774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D22E3D-6612-4231-974E-B3344B91EF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F9F4CCE-A163-4E89-AA2D-D0B89DE4E3A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1C2F15-AC31-4690-A223-8A9BFD999AF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09A0519-C5F7-4CE4-A5B7-4562453FCD0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aa564a009d04834" /><Relationship Type="http://schemas.openxmlformats.org/officeDocument/2006/relationships/slideLayout" Target="/ppt/slideLayouts/slideLayout1.xml" Id="R50362919ab2c4182" /><Relationship Type="http://schemas.openxmlformats.org/officeDocument/2006/relationships/slideLayout" Target="/ppt/slideLayouts/slideLayout2.xml" Id="R2b13fab5c4b74dfa" /><Relationship Type="http://schemas.openxmlformats.org/officeDocument/2006/relationships/slideLayout" Target="/ppt/slideLayouts/slideLayout3.xml" Id="Rc183e2150b214266" /><Relationship Type="http://schemas.openxmlformats.org/officeDocument/2006/relationships/slideLayout" Target="/ppt/slideLayouts/slideLayout4.xml" Id="R79aa2ae3bbd946a0" /><Relationship Type="http://schemas.openxmlformats.org/officeDocument/2006/relationships/slideLayout" Target="/ppt/slideLayouts/slideLayout5.xml" Id="R1635a3de241c480e" /><Relationship Type="http://schemas.openxmlformats.org/officeDocument/2006/relationships/slideLayout" Target="/ppt/slideLayouts/slideLayout6.xml" Id="R3264efa4468a4f4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0362919ab2c4182"/>
    <p:sldLayoutId xmlns:r="http://schemas.openxmlformats.org/officeDocument/2006/relationships" id="2147483650" r:id="R2b13fab5c4b74dfa"/>
    <p:sldLayoutId xmlns:r="http://schemas.openxmlformats.org/officeDocument/2006/relationships" id="2147483651" r:id="Rc183e2150b214266"/>
    <p:sldLayoutId xmlns:r="http://schemas.openxmlformats.org/officeDocument/2006/relationships" id="2147483652" r:id="R79aa2ae3bbd946a0"/>
    <p:sldLayoutId xmlns:r="http://schemas.openxmlformats.org/officeDocument/2006/relationships" id="2147483653" r:id="R1635a3de241c480e"/>
    <p:sldLayoutId xmlns:r="http://schemas.openxmlformats.org/officeDocument/2006/relationships" id="2147483654" r:id="R3264efa4468a4f4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50c82837eb14538" /><Relationship Type="http://schemas.openxmlformats.org/officeDocument/2006/relationships/image" Target="/ppt/media/image.png" Id="Rde3f4dd55de847d9" /><Relationship Type="http://schemas.openxmlformats.org/officeDocument/2006/relationships/image" Target="/ppt/media/image2.png" Id="R3c052aff2534443a" /><Relationship Type="http://schemas.openxmlformats.org/officeDocument/2006/relationships/notesSlide" Target="/ppt/notesSlides/notesSlide1.xml" Id="R5bf06c22037f45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e3a4324c6654acd" /><Relationship Type="http://schemas.openxmlformats.org/officeDocument/2006/relationships/image" Target="/ppt/media/image3.png" Id="Rb0dd5db307284491" /><Relationship Type="http://schemas.openxmlformats.org/officeDocument/2006/relationships/notesSlide" Target="/ppt/notesSlides/notesSlide2.xml" Id="R40605c37530c4a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0bc84f7a9194792" /><Relationship Type="http://schemas.openxmlformats.org/officeDocument/2006/relationships/image" Target="/ppt/media/image4.png" Id="R0d3a26eb60614968" /><Relationship Type="http://schemas.openxmlformats.org/officeDocument/2006/relationships/image" Target="/ppt/media/image5.png" Id="Rb6fe34e896a241a6" /><Relationship Type="http://schemas.openxmlformats.org/officeDocument/2006/relationships/notesSlide" Target="/ppt/notesSlides/notesSlide3.xml" Id="Re15508830d7f4e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eaea26f523c4a39" /><Relationship Type="http://schemas.openxmlformats.org/officeDocument/2006/relationships/image" Target="/ppt/media/image6.png" Id="Rff806a880a224b90" /><Relationship Type="http://schemas.openxmlformats.org/officeDocument/2006/relationships/image" Target="/ppt/media/image7.png" Id="R6dabc331c3c44a0f" /><Relationship Type="http://schemas.openxmlformats.org/officeDocument/2006/relationships/notesSlide" Target="/ppt/notesSlides/notesSlide4.xml" Id="R06c4a7a9fab548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ffd047b6ab94eba" /><Relationship Type="http://schemas.openxmlformats.org/officeDocument/2006/relationships/image" Target="/ppt/media/image8.png" Id="R7a2699e1b8b843cd" /><Relationship Type="http://schemas.openxmlformats.org/officeDocument/2006/relationships/notesSlide" Target="/ppt/notesSlides/notesSlide5.xml" Id="Rcc7a6c9afde245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6f92c0df55048d1" /><Relationship Type="http://schemas.openxmlformats.org/officeDocument/2006/relationships/image" Target="/ppt/media/image9.png" Id="Rdd56684e760b406e" /><Relationship Type="http://schemas.openxmlformats.org/officeDocument/2006/relationships/image" Target="/ppt/media/image10.png" Id="R3624bfa493ae4180" /><Relationship Type="http://schemas.openxmlformats.org/officeDocument/2006/relationships/notesSlide" Target="/ppt/notesSlides/notesSlide6.xml" Id="R0cab2d44427d4f6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93db055968046bd" /><Relationship Type="http://schemas.openxmlformats.org/officeDocument/2006/relationships/image" Target="/ppt/media/image11.png" Id="R3d6d8ec9f1a44cac" /><Relationship Type="http://schemas.openxmlformats.org/officeDocument/2006/relationships/chart" Target="/ppt/slides/charts/chart1.xml" Id="R4cdcfd969c5d4e32" /><Relationship Type="http://schemas.openxmlformats.org/officeDocument/2006/relationships/notesSlide" Target="/ppt/notesSlides/notesSlide7.xml" Id="Rec98ba97c25e4ecb"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2d739a1e964c2c" /><Relationship Type="http://schemas.openxmlformats.org/officeDocument/2006/relationships/image" Target="/ppt/media/image12.png" Id="Rf98db9b58ac644b4" /><Relationship Type="http://schemas.openxmlformats.org/officeDocument/2006/relationships/chart" Target="/ppt/slides/charts/chart2.xml" Id="R3e6d2e303185431f" /><Relationship Type="http://schemas.openxmlformats.org/officeDocument/2006/relationships/notesSlide" Target="/ppt/notesSlides/notesSlide8.xml" Id="Re5d8188e39b74c9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a2149150ce2499f" /><Relationship Type="http://schemas.openxmlformats.org/officeDocument/2006/relationships/image" Target="/ppt/media/image13.png" Id="Rce7aa313bd66493b" /><Relationship Type="http://schemas.openxmlformats.org/officeDocument/2006/relationships/image" Target="/ppt/media/image14.png" Id="R8d672845799444a1" /><Relationship Type="http://schemas.openxmlformats.org/officeDocument/2006/relationships/notesSlide" Target="/ppt/notesSlides/notesSlide9.xml" Id="Ra3966d3c6e824dd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fd3ca39636a4147" /><Relationship Type="http://schemas.openxmlformats.org/officeDocument/2006/relationships/image" Target="/ppt/media/image15.png" Id="R8665f02318594ac7" /><Relationship Type="http://schemas.openxmlformats.org/officeDocument/2006/relationships/chart" Target="/ppt/slides/charts/chart3.xml" Id="Rc4426e49cbd54fe1" /><Relationship Type="http://schemas.openxmlformats.org/officeDocument/2006/relationships/notesSlide" Target="/ppt/notesSlides/notesSlide10.xml" Id="R651c226c21eb484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ab492a5125c4f0d" /><Relationship Type="http://schemas.openxmlformats.org/officeDocument/2006/relationships/image" Target="/ppt/media/image16.png" Id="R6bd61119b38145a0" /><Relationship Type="http://schemas.openxmlformats.org/officeDocument/2006/relationships/notesSlide" Target="/ppt/notesSlides/notesSlide11.xml" Id="Rcee915bf1b3a403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58f1a551f9641f6" /><Relationship Type="http://schemas.openxmlformats.org/officeDocument/2006/relationships/image" Target="/ppt/media/image17.png" Id="Rc488993045904a59" /><Relationship Type="http://schemas.openxmlformats.org/officeDocument/2006/relationships/hyperlink" Target="https://github.com/YushengZhao/SwitchAttentionKernels" TargetMode="External" Id="Rd058269be3874c98" /><Relationship Type="http://schemas.openxmlformats.org/officeDocument/2006/relationships/notesSlide" Target="/ppt/notesSlides/notesSlide12.xml" Id="R95cadc4b3c944c6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6bd4f49cf6143fc" /><Relationship Type="http://schemas.openxmlformats.org/officeDocument/2006/relationships/image" Target="/ppt/media/image18.png" Id="R7689a84f30204e7b" /><Relationship Type="http://schemas.openxmlformats.org/officeDocument/2006/relationships/notesSlide" Target="/ppt/notesSlides/notesSlide13.xml" Id="Rb4f5ed312da64bd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a3c8ec539f5046c1" /><Relationship Type="http://schemas.openxmlformats.org/officeDocument/2006/relationships/image" Target="/ppt/media/image19.png" Id="Rc7963537167b4e50" /><Relationship Type="http://schemas.openxmlformats.org/officeDocument/2006/relationships/notesSlide" Target="/ppt/notesSlides/notesSlide14.xml" Id="R3c1876e9be4541b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223fe77ae37e4bea" /><Relationship Type="http://schemas.openxmlformats.org/officeDocument/2006/relationships/image" Target="/ppt/media/image20.png" Id="Rbf4c6098e1514c62" /><Relationship Type="http://schemas.openxmlformats.org/officeDocument/2006/relationships/notesSlide" Target="/ppt/notesSlides/notesSlide15.xml" Id="R89b1322d45924f3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1236015f51443b6" /><Relationship Type="http://schemas.openxmlformats.org/officeDocument/2006/relationships/image" Target="/ppt/media/image21.png" Id="Rd5593f612adc42d5" /><Relationship Type="http://schemas.openxmlformats.org/officeDocument/2006/relationships/chart" Target="/ppt/slides/charts/chart4.xml" Id="Rb9ddeefbf870487a" /><Relationship Type="http://schemas.openxmlformats.org/officeDocument/2006/relationships/notesSlide" Target="/ppt/notesSlides/notesSlide16.xml" Id="R2684fa2d55b44de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e312f4982c64211" /><Relationship Type="http://schemas.openxmlformats.org/officeDocument/2006/relationships/image" Target="/ppt/media/image22.png" Id="R955e3ff9c31c4127" /><Relationship Type="http://schemas.openxmlformats.org/officeDocument/2006/relationships/notesSlide" Target="/ppt/notesSlides/notesSlide17.xml" Id="Rcebbf5166bdf41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18c6c64dea94d1c" /><Relationship Type="http://schemas.openxmlformats.org/officeDocument/2006/relationships/image" Target="/ppt/media/image23.png" Id="R724dc5bb598a478c" /><Relationship Type="http://schemas.openxmlformats.org/officeDocument/2006/relationships/notesSlide" Target="/ppt/notesSlides/notesSlide18.xml" Id="R44f3e9416c214fd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BFC6CF"/>
              </a:solidFill>
              <a:ln xmlns:a="http://schemas.openxmlformats.org/drawingml/2006/main" w="0">
                <a:noFill/>
                <a:prstDash val="solid"/>
              </a:ln>
            </c:spPr>
          </c:dPt>
          <c:dPt>
            <c:idx val="1"/>
            <c:invertIfNegative val="0"/>
            <c:spPr>
              <a:solidFill xmlns:a="http://schemas.openxmlformats.org/drawingml/2006/main">
                <a:srgbClr val="BFC6CF"/>
              </a:solidFill>
              <a:ln xmlns:a="http://schemas.openxmlformats.org/drawingml/2006/main" w="0">
                <a:noFill/>
                <a:prstDash val="solid"/>
              </a:ln>
            </c:spPr>
          </c:dPt>
          <c:dPt>
            <c:idx val="2"/>
            <c:invertIfNegative val="0"/>
            <c:spPr>
              <a:solidFill xmlns:a="http://schemas.openxmlformats.org/drawingml/2006/main">
                <a:srgbClr val="BFC6CF"/>
              </a:solidFill>
              <a:ln xmlns:a="http://schemas.openxmlformats.org/drawingml/2006/main" w="0">
                <a:noFill/>
                <a:prstDash val="solid"/>
              </a:ln>
            </c:spPr>
          </c:dPt>
          <c:dPt>
            <c:idx val="3"/>
            <c:invertIfNegative val="0"/>
            <c:spPr>
              <a:solidFill xmlns:a="http://schemas.openxmlformats.org/drawingml/2006/main">
                <a:srgbClr val="292F43"/>
              </a:solidFill>
              <a:ln xmlns:a="http://schemas.openxmlformats.org/drawingml/2006/main" w="0">
                <a:noFill/>
                <a:prstDash val="solid"/>
              </a:ln>
            </c:spPr>
          </c:dPt>
          <c:dPt>
            <c:idx val="4"/>
            <c:invertIfNegative val="0"/>
            <c:spPr>
              <a:solidFill xmlns:a="http://schemas.openxmlformats.org/drawingml/2006/main">
                <a:srgbClr val="416F51"/>
              </a:solidFill>
              <a:ln xmlns:a="http://schemas.openxmlformats.org/drawingml/2006/main" w="0">
                <a:noFill/>
                <a:prstDash val="solid"/>
              </a:ln>
            </c:spPr>
          </c:dPt>
          <c:cat>
            <c:strRef>
              <c:f>'Chart Data'!$A$2:$A$6</c:f>
              <c:strCache>
                <c:ptCount val="5"/>
                <c:pt idx="0">
                  <c:v>SWA-ZS</c:v>
                </c:pt>
                <c:pt idx="1">
                  <c:v>SWA-CPT</c:v>
                </c:pt>
                <c:pt idx="2">
                  <c:v>SH (3:1)</c:v>
                </c:pt>
                <c:pt idx="3">
                  <c:v>FullAttn</c:v>
                </c:pt>
                <c:pt idx="4">
                  <c:v>SwiAttn</c:v>
                </c:pt>
              </c:strCache>
            </c:strRef>
          </c:cat>
          <c:val>
            <c:numRef>
              <c:f>'Chart Data'!$B$2:$B$6</c:f>
              <c:numCache>
                <c:formatCode>0.0</c:formatCode>
                <c:ptCount val="5"/>
                <c:pt idx="0">
                  <c:v>41.7</c:v>
                </c:pt>
                <c:pt idx="1">
                  <c:v>41.5</c:v>
                </c:pt>
                <c:pt idx="2">
                  <c:v>50.6</c:v>
                </c:pt>
                <c:pt idx="3">
                  <c:v>52.9</c:v>
                </c:pt>
                <c:pt idx="4">
                  <c:v>52.9</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725">
                <a:solidFill>
                  <a:srgbClr val="292F43"/>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BFC6CF"/>
              </a:solidFill>
              <a:ln xmlns:a="http://schemas.openxmlformats.org/drawingml/2006/main" w="0">
                <a:noFill/>
                <a:prstDash val="solid"/>
              </a:ln>
            </c:spPr>
          </c:dPt>
          <c:dPt>
            <c:idx val="1"/>
            <c:invertIfNegative val="0"/>
            <c:spPr>
              <a:solidFill xmlns:a="http://schemas.openxmlformats.org/drawingml/2006/main">
                <a:srgbClr val="BFC6CF"/>
              </a:solidFill>
              <a:ln xmlns:a="http://schemas.openxmlformats.org/drawingml/2006/main" w="0">
                <a:noFill/>
                <a:prstDash val="solid"/>
              </a:ln>
            </c:spPr>
          </c:dPt>
          <c:dPt>
            <c:idx val="2"/>
            <c:invertIfNegative val="0"/>
            <c:spPr>
              <a:solidFill xmlns:a="http://schemas.openxmlformats.org/drawingml/2006/main">
                <a:srgbClr val="BFC6CF"/>
              </a:solidFill>
              <a:ln xmlns:a="http://schemas.openxmlformats.org/drawingml/2006/main" w="0">
                <a:noFill/>
                <a:prstDash val="solid"/>
              </a:ln>
            </c:spPr>
          </c:dPt>
          <c:dPt>
            <c:idx val="3"/>
            <c:invertIfNegative val="0"/>
            <c:spPr>
              <a:solidFill xmlns:a="http://schemas.openxmlformats.org/drawingml/2006/main">
                <a:srgbClr val="BFC6CF"/>
              </a:solidFill>
              <a:ln xmlns:a="http://schemas.openxmlformats.org/drawingml/2006/main" w="0">
                <a:noFill/>
                <a:prstDash val="solid"/>
              </a:ln>
            </c:spPr>
          </c:dPt>
          <c:dPt>
            <c:idx val="4"/>
            <c:invertIfNegative val="0"/>
            <c:spPr>
              <a:solidFill xmlns:a="http://schemas.openxmlformats.org/drawingml/2006/main">
                <a:srgbClr val="BFC6CF"/>
              </a:solidFill>
              <a:ln xmlns:a="http://schemas.openxmlformats.org/drawingml/2006/main" w="0">
                <a:noFill/>
                <a:prstDash val="solid"/>
              </a:ln>
            </c:spPr>
          </c:dPt>
          <c:dPt>
            <c:idx val="5"/>
            <c:invertIfNegative val="0"/>
            <c:spPr>
              <a:solidFill xmlns:a="http://schemas.openxmlformats.org/drawingml/2006/main">
                <a:srgbClr val="292F43"/>
              </a:solidFill>
              <a:ln xmlns:a="http://schemas.openxmlformats.org/drawingml/2006/main" w="0">
                <a:noFill/>
                <a:prstDash val="solid"/>
              </a:ln>
            </c:spPr>
          </c:dPt>
          <c:dPt>
            <c:idx val="6"/>
            <c:invertIfNegative val="0"/>
            <c:spPr>
              <a:solidFill xmlns:a="http://schemas.openxmlformats.org/drawingml/2006/main">
                <a:srgbClr val="416F51"/>
              </a:solidFill>
              <a:ln xmlns:a="http://schemas.openxmlformats.org/drawingml/2006/main" w="0">
                <a:noFill/>
                <a:prstDash val="solid"/>
              </a:ln>
            </c:spPr>
          </c:dPt>
          <c:cat>
            <c:strRef>
              <c:f>'Chart Data'!$A$2:$A$8</c:f>
              <c:strCache>
                <c:ptCount val="7"/>
                <c:pt idx="0">
                  <c:v>SWA-ZS</c:v>
                </c:pt>
                <c:pt idx="1">
                  <c:v>SWA-CPT</c:v>
                </c:pt>
                <c:pt idx="2">
                  <c:v>DuoAttn</c:v>
                </c:pt>
                <c:pt idx="3">
                  <c:v>SH (6:1)</c:v>
                </c:pt>
                <c:pt idx="4">
                  <c:v>SH (3:1)</c:v>
                </c:pt>
                <c:pt idx="5">
                  <c:v>FullAttn</c:v>
                </c:pt>
                <c:pt idx="6">
                  <c:v>SwiAttn</c:v>
                </c:pt>
              </c:strCache>
            </c:strRef>
          </c:cat>
          <c:val>
            <c:numRef>
              <c:f>'Chart Data'!$B$2:$B$8</c:f>
              <c:numCache>
                <c:formatCode>0.0</c:formatCode>
                <c:ptCount val="7"/>
                <c:pt idx="0">
                  <c:v>23.4</c:v>
                </c:pt>
                <c:pt idx="1">
                  <c:v>31</c:v>
                </c:pt>
                <c:pt idx="2">
                  <c:v>33.9</c:v>
                </c:pt>
                <c:pt idx="3">
                  <c:v>33.3</c:v>
                </c:pt>
                <c:pt idx="4">
                  <c:v>35.2</c:v>
                </c:pt>
                <c:pt idx="5">
                  <c:v>37.4</c:v>
                </c:pt>
                <c:pt idx="6">
                  <c:v>37.4</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500">
                <a:solidFill>
                  <a:srgbClr val="292F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292F43"/>
              </a:solidFill>
              <a:ln xmlns:a="http://schemas.openxmlformats.org/drawingml/2006/main" w="0">
                <a:noFill/>
                <a:prstDash val="solid"/>
              </a:ln>
            </c:spPr>
          </c:dPt>
          <c:dPt>
            <c:idx val="1"/>
            <c:invertIfNegative val="0"/>
            <c:spPr>
              <a:solidFill xmlns:a="http://schemas.openxmlformats.org/drawingml/2006/main">
                <a:srgbClr val="416F51"/>
              </a:solidFill>
              <a:ln xmlns:a="http://schemas.openxmlformats.org/drawingml/2006/main" w="0">
                <a:noFill/>
                <a:prstDash val="solid"/>
              </a:ln>
            </c:spPr>
          </c:dPt>
          <c:dPt>
            <c:idx val="2"/>
            <c:invertIfNegative val="0"/>
            <c:spPr>
              <a:solidFill xmlns:a="http://schemas.openxmlformats.org/drawingml/2006/main">
                <a:srgbClr val="81A68B"/>
              </a:solidFill>
              <a:ln xmlns:a="http://schemas.openxmlformats.org/drawingml/2006/main" w="0">
                <a:noFill/>
                <a:prstDash val="solid"/>
              </a:ln>
            </c:spPr>
          </c:dPt>
          <c:cat>
            <c:strRef>
              <c:f>'Chart Data'!$A$2:$A$4</c:f>
              <c:strCache>
                <c:ptCount val="3"/>
                <c:pt idx="0">
                  <c:v>FullAttn</c:v>
                </c:pt>
                <c:pt idx="1">
                  <c:v>SwiAttn: standard</c:v>
                </c:pt>
                <c:pt idx="2">
                  <c:v>SwiAttn: simple</c:v>
                </c:pt>
              </c:strCache>
            </c:strRef>
          </c:cat>
          <c:val>
            <c:numRef>
              <c:f>'Chart Data'!$B$2:$B$4</c:f>
              <c:numCache>
                <c:formatCode>0.0</c:formatCode>
                <c:ptCount val="3"/>
                <c:pt idx="0">
                  <c:v>32</c:v>
                </c:pt>
                <c:pt idx="1">
                  <c:v>7.3</c:v>
                </c:pt>
                <c:pt idx="2">
                  <c:v>2.6</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575">
                <a:solidFill>
                  <a:srgbClr val="292F43"/>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8"/>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BFC6CF"/>
              </a:solidFill>
              <a:ln xmlns:a="http://schemas.openxmlformats.org/drawingml/2006/main" w="0">
                <a:noFill/>
                <a:prstDash val="solid"/>
              </a:ln>
            </c:spPr>
          </c:dPt>
          <c:dPt>
            <c:idx val="1"/>
            <c:invertIfNegative val="0"/>
            <c:spPr>
              <a:solidFill xmlns:a="http://schemas.openxmlformats.org/drawingml/2006/main">
                <a:srgbClr val="BFC6CF"/>
              </a:solidFill>
              <a:ln xmlns:a="http://schemas.openxmlformats.org/drawingml/2006/main" w="0">
                <a:noFill/>
                <a:prstDash val="solid"/>
              </a:ln>
            </c:spPr>
          </c:dPt>
          <c:dPt>
            <c:idx val="2"/>
            <c:invertIfNegative val="0"/>
            <c:spPr>
              <a:solidFill xmlns:a="http://schemas.openxmlformats.org/drawingml/2006/main">
                <a:srgbClr val="292F43"/>
              </a:solidFill>
              <a:ln xmlns:a="http://schemas.openxmlformats.org/drawingml/2006/main" w="0">
                <a:noFill/>
                <a:prstDash val="solid"/>
              </a:ln>
            </c:spPr>
          </c:dPt>
          <c:dPt>
            <c:idx val="3"/>
            <c:invertIfNegative val="0"/>
            <c:spPr>
              <a:solidFill xmlns:a="http://schemas.openxmlformats.org/drawingml/2006/main">
                <a:srgbClr val="416F51"/>
              </a:solidFill>
              <a:ln xmlns:a="http://schemas.openxmlformats.org/drawingml/2006/main" w="0">
                <a:noFill/>
                <a:prstDash val="solid"/>
              </a:ln>
            </c:spPr>
          </c:dPt>
          <c:cat>
            <c:strRef>
              <c:f>'Chart Data'!$A$2:$A$5</c:f>
              <c:strCache>
                <c:ptCount val="4"/>
                <c:pt idx="0">
                  <c:v>SWA</c:v>
                </c:pt>
                <c:pt idx="1">
                  <c:v>SH (3:1)</c:v>
                </c:pt>
                <c:pt idx="2">
                  <c:v>FullAttn</c:v>
                </c:pt>
                <c:pt idx="3">
                  <c:v>SwiAttn</c:v>
                </c:pt>
              </c:strCache>
            </c:strRef>
          </c:cat>
          <c:val>
            <c:numRef>
              <c:f>'Chart Data'!$B$2:$B$5</c:f>
              <c:numCache>
                <c:formatCode>0%</c:formatCode>
                <c:ptCount val="4"/>
                <c:pt idx="0">
                  <c:v>0.2</c:v>
                </c:pt>
                <c:pt idx="1">
                  <c:v>0.95</c:v>
                </c:pt>
                <c:pt idx="2">
                  <c:v>1</c:v>
                </c:pt>
                <c:pt idx="3">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725">
                <a:solidFill>
                  <a:srgbClr val="292F43"/>
                </a:solidFill>
                <a:latin typeface="Arial"/>
                <a:ea typeface="Arial"/>
                <a:cs typeface="Arial"/>
              </a:defRPr>
            </a:pPr>
          </a:p>
        </c:txPr>
        <c:crossAx val="48672768"/>
      </c:catAx>
      <c:valAx>
        <c:axId val="48672768"/>
        <c:scaling>
          <c:orientation val="minMax"/>
          <c:max val="1.1"/>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202ACF62-6DC6-4D35-8E81-39254F01B1BC}"/>
              </a:ext>
            </a:extLst>
          </p:cNvPr>
          <p:cNvPicPr>
            <a:picLocks xmlns:a="http://schemas.openxmlformats.org/drawingml/2006/main" noChangeAspect="1"/>
          </p:cNvPicPr>
          <p:nvPr/>
        </p:nvPicPr>
        <p:blipFill>
          <a:blip xmlns:r="http://schemas.openxmlformats.org/officeDocument/2006/relationships" xmlns:a="http://schemas.openxmlformats.org/drawingml/2006/main" r:embed="Rde3f4dd55de847d9"/>
          <a:stretch xmlns:a="http://schemas.openxmlformats.org/drawingml/2006/main"/>
        </p:blipFill>
        <p:spPr>
          <a:xfrm xmlns:a="http://schemas.openxmlformats.org/drawingml/2006/main">
            <a:off x="609600" y="514505"/>
            <a:ext cx="3333750" cy="580715"/>
          </a:xfrm>
          <a:prstGeom xmlns:a="http://schemas.openxmlformats.org/drawingml/2006/main" prst="rect">
            <a:avLst/>
          </a:prstGeom>
        </p:spPr>
      </p:pic>
      <p:sp>
        <p:nvSpPr>
          <p:cNvPr id="2" name="Switch Attention">
            <a:extLst xmlns:a="http://schemas.openxmlformats.org/drawingml/2006/main">
              <a:ext uri="{FF2B5EF4-FFF2-40B4-BE49-F238E27FC236}">
                <a16:creationId xmlns:a16="http://schemas.microsoft.com/office/drawing/2014/main" id="{0549F4C2-FDED-44CD-BDB5-2D85C91FA092}"/>
              </a:ext>
            </a:extLst>
          </p:cNvPr>
          <p:cNvSpPr>
            <a:spLocks xmlns:a="http://schemas.openxmlformats.org/drawingml/2006/main" noGrp="1"/>
          </p:cNvSpPr>
          <p:nvPr/>
        </p:nvSpPr>
        <p:spPr>
          <a:xfrm xmlns:a="http://schemas.openxmlformats.org/drawingml/2006/main">
            <a:off x="609600" y="16192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292F43"/>
                </a:solidFill>
                <a:latin typeface="Arial"/>
                <a:ea typeface="Arial"/>
                <a:cs typeface="Arial"/>
              </a:defRPr>
            </a:defPPr>
          </a:lstStyle>
          <a:p xmlns:a="http://schemas.openxmlformats.org/drawingml/2006/main">
            <a:pPr algn="l">
              <a:defRPr sz="4800" b="1">
                <a:solidFill>
                  <a:srgbClr val="292F43"/>
                </a:solidFill>
                <a:latin typeface="Arial"/>
                <a:ea typeface="Arial"/>
                <a:cs typeface="Arial"/>
              </a:defRPr>
            </a:pPr>
            <a:r>
              <a:rPr sz="4800" b="1">
                <a:solidFill>
                  <a:srgbClr val="292F43"/>
                </a:solidFill>
                <a:latin typeface="Arial"/>
                <a:ea typeface="Arial"/>
                <a:cs typeface="Arial"/>
              </a:rPr>
              <a:t>Switch Attention</a:t>
            </a:r>
          </a:p>
        </p:txBody>
      </p:sp>
      <p:sp>
        <p:nvSpPr>
          <p:cNvPr id="3" name="Towards Dynamic and Fine-grained&#10;Hybrid Transformers">
            <a:extLst xmlns:a="http://schemas.openxmlformats.org/drawingml/2006/main">
              <a:ext uri="{FF2B5EF4-FFF2-40B4-BE49-F238E27FC236}">
                <a16:creationId xmlns:a16="http://schemas.microsoft.com/office/drawing/2014/main" id="{511ED9EC-3861-4E1F-8BDB-0AC2C11E98CC}"/>
              </a:ext>
            </a:extLst>
          </p:cNvPr>
          <p:cNvSpPr>
            <a:spLocks xmlns:a="http://schemas.openxmlformats.org/drawingml/2006/main" noGrp="1"/>
          </p:cNvSpPr>
          <p:nvPr/>
        </p:nvSpPr>
        <p:spPr>
          <a:xfrm xmlns:a="http://schemas.openxmlformats.org/drawingml/2006/main">
            <a:off x="609600" y="24765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92F43"/>
                </a:solidFill>
                <a:latin typeface="Arial"/>
                <a:ea typeface="Arial"/>
                <a:cs typeface="Arial"/>
              </a:defRPr>
            </a:defPPr>
          </a:lstStyle>
          <a:p xmlns:a="http://schemas.openxmlformats.org/drawingml/2006/main">
            <a:pPr algn="l">
              <a:defRPr sz="3000" b="0">
                <a:solidFill>
                  <a:srgbClr val="292F43"/>
                </a:solidFill>
                <a:latin typeface="Arial"/>
                <a:ea typeface="Arial"/>
                <a:cs typeface="Arial"/>
              </a:defRPr>
            </a:pPr>
            <a:r>
              <a:rPr sz="3000" b="0">
                <a:solidFill>
                  <a:srgbClr val="292F43"/>
                </a:solidFill>
                <a:latin typeface="Arial"/>
                <a:ea typeface="Arial"/>
                <a:cs typeface="Arial"/>
              </a:rPr>
              <a:t>Towards Dynamic and Fine-grained</a:t>
            </a:r>
          </a:p>
          <a:p xmlns:a="http://schemas.openxmlformats.org/drawingml/2006/main">
            <a:pPr algn="l">
              <a:defRPr sz="3000" b="0">
                <a:solidFill>
                  <a:srgbClr val="292F43"/>
                </a:solidFill>
                <a:latin typeface="Arial"/>
                <a:ea typeface="Arial"/>
                <a:cs typeface="Arial"/>
              </a:defRPr>
            </a:pPr>
            <a:r>
              <a:rPr sz="3000" b="0">
                <a:solidFill>
                  <a:srgbClr val="292F43"/>
                </a:solidFill>
                <a:latin typeface="Arial"/>
                <a:ea typeface="Arial"/>
                <a:cs typeface="Arial"/>
              </a:rPr>
              <a:t>Hybrid Transformers</a:t>
            </a:r>
          </a:p>
        </p:txBody>
      </p:sp>
      <p:sp>
        <p:nvSpPr>
          <p:cNvPr id="4" name="Yusheng Zhao¹, Hourun Li¹, Bohan Wu¹, Yichun Yin²,&#10;Lifeng Shang²">
            <a:extLst xmlns:a="http://schemas.openxmlformats.org/drawingml/2006/main">
              <a:ext uri="{FF2B5EF4-FFF2-40B4-BE49-F238E27FC236}">
                <a16:creationId xmlns:a16="http://schemas.microsoft.com/office/drawing/2014/main" id="{AF9CD729-EAC2-45D2-B09E-9A8663A6092F}"/>
              </a:ext>
            </a:extLst>
          </p:cNvPr>
          <p:cNvSpPr>
            <a:spLocks xmlns:a="http://schemas.openxmlformats.org/drawingml/2006/main" noGrp="1"/>
          </p:cNvSpPr>
          <p:nvPr/>
        </p:nvSpPr>
        <p:spPr>
          <a:xfrm xmlns:a="http://schemas.openxmlformats.org/drawingml/2006/main">
            <a:off x="609600" y="37528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2F43"/>
                </a:solidFill>
                <a:latin typeface="Arial"/>
                <a:ea typeface="Arial"/>
                <a:cs typeface="Arial"/>
              </a:defRPr>
            </a:defPPr>
          </a:lstStyle>
          <a:p xmlns:a="http://schemas.openxmlformats.org/drawingml/2006/main">
            <a:pPr algn="l">
              <a:defRPr sz="1875" b="0">
                <a:solidFill>
                  <a:srgbClr val="292F43"/>
                </a:solidFill>
                <a:latin typeface="Arial"/>
                <a:ea typeface="Arial"/>
                <a:cs typeface="Arial"/>
              </a:defRPr>
            </a:pPr>
            <a:r>
              <a:rPr sz="1875" b="0">
                <a:solidFill>
                  <a:srgbClr val="292F43"/>
                </a:solidFill>
                <a:latin typeface="Arial"/>
                <a:ea typeface="Arial"/>
                <a:cs typeface="Arial"/>
              </a:rPr>
              <a:t>Yusheng Zhao¹, Hourun Li¹, Bohan Wu¹, Yichun Yin²,</a:t>
            </a:r>
          </a:p>
          <a:p xmlns:a="http://schemas.openxmlformats.org/drawingml/2006/main">
            <a:pPr algn="l">
              <a:defRPr sz="1875" b="0">
                <a:solidFill>
                  <a:srgbClr val="292F43"/>
                </a:solidFill>
                <a:latin typeface="Arial"/>
                <a:ea typeface="Arial"/>
                <a:cs typeface="Arial"/>
              </a:defRPr>
            </a:pPr>
            <a:r>
              <a:rPr sz="1875" b="0">
                <a:solidFill>
                  <a:srgbClr val="292F43"/>
                </a:solidFill>
                <a:latin typeface="Arial"/>
                <a:ea typeface="Arial"/>
                <a:cs typeface="Arial"/>
              </a:rPr>
              <a:t>Lifeng Shang², Jingyang Yuan¹, Meng Zhang², Ming Zhang¹</a:t>
            </a:r>
          </a:p>
        </p:txBody>
      </p:sp>
      <p:sp>
        <p:nvSpPr>
          <p:cNvPr id="5" name="¹ Peking University / PKU-Anker LLM Lab&#10;² Huawei Technologies Co">
            <a:extLst xmlns:a="http://schemas.openxmlformats.org/drawingml/2006/main">
              <a:ext uri="{FF2B5EF4-FFF2-40B4-BE49-F238E27FC236}">
                <a16:creationId xmlns:a16="http://schemas.microsoft.com/office/drawing/2014/main" id="{69A05516-532C-4D5B-831E-026889A40D4F}"/>
              </a:ext>
            </a:extLst>
          </p:cNvPr>
          <p:cNvSpPr>
            <a:spLocks xmlns:a="http://schemas.openxmlformats.org/drawingml/2006/main" noGrp="1"/>
          </p:cNvSpPr>
          <p:nvPr/>
        </p:nvSpPr>
        <p:spPr>
          <a:xfrm xmlns:a="http://schemas.openxmlformats.org/drawingml/2006/main">
            <a:off x="609600" y="47339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¹ Peking University / PKU-Anker LLM Lab</a:t>
            </a:r>
          </a:p>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² Huawei Technologies Co., Ltd.</a:t>
            </a:r>
          </a:p>
        </p:txBody>
      </p:sp>
      <p:pic>
        <p:nvPicPr>
          <p:cNvPr id="6" name="">
            <a:extLst xmlns:a="http://schemas.openxmlformats.org/drawingml/2006/main">
              <a:ext uri="{FF2B5EF4-FFF2-40B4-BE49-F238E27FC236}">
                <a16:creationId xmlns:a16="http://schemas.microsoft.com/office/drawing/2014/main" id="{2F57A72C-AA09-4543-BF1B-6177CF04D1B3}"/>
              </a:ext>
            </a:extLst>
          </p:cNvPr>
          <p:cNvPicPr>
            <a:picLocks xmlns:a="http://schemas.openxmlformats.org/drawingml/2006/main" noChangeAspect="1"/>
          </p:cNvPicPr>
          <p:nvPr/>
        </p:nvPicPr>
        <p:blipFill>
          <a:blip xmlns:r="http://schemas.openxmlformats.org/officeDocument/2006/relationships" xmlns:a="http://schemas.openxmlformats.org/drawingml/2006/main" r:embed="R3c052aff2534443a"/>
          <a:stretch xmlns:a="http://schemas.openxmlformats.org/drawingml/2006/main"/>
        </p:blipFill>
        <p:spPr>
          <a:xfrm xmlns:a="http://schemas.openxmlformats.org/drawingml/2006/main">
            <a:off x="8144" y="5591175"/>
            <a:ext cx="12175712" cy="1266825"/>
          </a:xfrm>
          <a:prstGeom xmlns:a="http://schemas.openxmlformats.org/drawingml/2006/main" prst="rect">
            <a:avLst/>
          </a:prstGeom>
        </p:spPr>
      </p:pic>
    </p:spTree>
    <p:extLst>
      <p:ext uri="{BB962C8B-B14F-4D97-AF65-F5344CB8AC3E}">
        <p14:creationId xmlns:p14="http://schemas.microsoft.com/office/powerpoint/2010/main" val="1064911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ttention cost depends on how far we look">
            <a:extLst xmlns:a="http://schemas.openxmlformats.org/drawingml/2006/main">
              <a:ext uri="{FF2B5EF4-FFF2-40B4-BE49-F238E27FC236}">
                <a16:creationId xmlns:a16="http://schemas.microsoft.com/office/drawing/2014/main" id="{2BBB01B9-D23D-40C8-B71D-C6AF7412C898}"/>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Attention cost depends on how far we look</a:t>
            </a:r>
          </a:p>
        </p:txBody>
      </p:sp>
      <p:pic>
        <p:nvPicPr>
          <p:cNvPr id="2" name="">
            <a:extLst xmlns:a="http://schemas.openxmlformats.org/drawingml/2006/main">
              <a:ext uri="{FF2B5EF4-FFF2-40B4-BE49-F238E27FC236}">
                <a16:creationId xmlns:a16="http://schemas.microsoft.com/office/drawing/2014/main" id="{1627D704-7D62-42C7-89CD-8A0B406D424D}"/>
              </a:ext>
            </a:extLst>
          </p:cNvPr>
          <p:cNvPicPr>
            <a:picLocks xmlns:a="http://schemas.openxmlformats.org/drawingml/2006/main" noChangeAspect="1"/>
          </p:cNvPicPr>
          <p:nvPr/>
        </p:nvPicPr>
        <p:blipFill>
          <a:blip xmlns:r="http://schemas.openxmlformats.org/officeDocument/2006/relationships" xmlns:a="http://schemas.openxmlformats.org/drawingml/2006/main" r:embed="Rb0dd5db307284491"/>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2">
            <a:extLst xmlns:a="http://schemas.openxmlformats.org/drawingml/2006/main">
              <a:ext uri="{FF2B5EF4-FFF2-40B4-BE49-F238E27FC236}">
                <a16:creationId xmlns:a16="http://schemas.microsoft.com/office/drawing/2014/main" id="{7A88980F-CB9C-4F2D-A318-16EC8C10B14D}"/>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C24253B0-818B-42C3-B582-BD4B0521ED50}"/>
              </a:ext>
            </a:extLst>
          </p:cNvPr>
          <p:cNvGraphicFramePr/>
          <p:nvPr/>
        </p:nvGraphicFramePr>
        <p:xfrm>
          <a:off xmlns:a="http://schemas.openxmlformats.org/drawingml/2006/main" x="609600" y="1619250"/>
          <a:ext xmlns:a="http://schemas.openxmlformats.org/drawingml/2006/main" cx="10972800" cy="2247900"/>
        </p:xfrm>
        <a:graphic xmlns:a="http://schemas.openxmlformats.org/drawingml/2006/main">
          <a:graphicData uri="http://schemas.openxmlformats.org/drawingml/2006/table">
            <a:tbl>
              <a:tblPr/>
              <a:tblGrid>
                <a:gridCol w="3476625"/>
                <a:gridCol w="4286250"/>
                <a:gridCol w="3209925"/>
              </a:tblGrid>
              <a:tr h="749300">
                <a:tc>
                  <a:txBody>
                    <a:bodyPr/>
                    <a:lstStyle/>
                    <a:p>
                      <a:pPr algn="l"/>
                      <a:r>
                        <a:rPr sz="2250" b="1">
                          <a:solidFill>
                            <a:srgbClr val="FFFFFF"/>
                          </a:solidFill>
                          <a:latin typeface="Arial"/>
                          <a:ea typeface="Arial"/>
                          <a:cs typeface="Arial"/>
                        </a:rPr>
                        <a:t>Attention</a:t>
                      </a:r>
                    </a:p>
                  </a:txBody>
                  <a:tcPr marL="133350" marR="114300" marT="114300" marB="114300" anchor="ctr">
                    <a:solidFill>
                      <a:srgbClr val="292F43"/>
                    </a:solidFill>
                  </a:tcPr>
                </a:tc>
                <a:tc>
                  <a:txBody>
                    <a:bodyPr/>
                    <a:lstStyle/>
                    <a:p>
                      <a:pPr algn="ctr"/>
                      <a:r>
                        <a:rPr sz="2250" b="1">
                          <a:solidFill>
                            <a:srgbClr val="FFFFFF"/>
                          </a:solidFill>
                          <a:latin typeface="Arial"/>
                          <a:ea typeface="Arial"/>
                          <a:cs typeface="Arial"/>
                        </a:rPr>
                        <a:t>Context available</a:t>
                      </a:r>
                    </a:p>
                  </a:txBody>
                  <a:tcPr marL="133350" marR="114300" marT="114300" marB="114300" anchor="ctr">
                    <a:solidFill>
                      <a:srgbClr val="292F43"/>
                    </a:solidFill>
                  </a:tcPr>
                </a:tc>
                <a:tc>
                  <a:txBody>
                    <a:bodyPr/>
                    <a:lstStyle/>
                    <a:p>
                      <a:pPr algn="ctr"/>
                      <a:r>
                        <a:rPr sz="2250" b="1">
                          <a:solidFill>
                            <a:srgbClr val="FFFFFF"/>
                          </a:solidFill>
                          <a:latin typeface="Arial"/>
                          <a:ea typeface="Arial"/>
                          <a:cs typeface="Arial"/>
                        </a:rPr>
                        <a:t>Prefill cost</a:t>
                      </a:r>
                    </a:p>
                  </a:txBody>
                  <a:tcPr marL="133350" marR="114300" marT="114300" marB="114300" anchor="ctr">
                    <a:solidFill>
                      <a:srgbClr val="292F43"/>
                    </a:solidFill>
                  </a:tcPr>
                </a:tc>
              </a:tr>
              <a:tr h="749300">
                <a:tc>
                  <a:txBody>
                    <a:bodyPr/>
                    <a:lstStyle/>
                    <a:p>
                      <a:pPr algn="l"/>
                      <a:r>
                        <a:rPr sz="2250" b="0">
                          <a:solidFill>
                            <a:srgbClr val="292F43"/>
                          </a:solidFill>
                          <a:latin typeface="Arial"/>
                          <a:ea typeface="Arial"/>
                          <a:cs typeface="Arial"/>
                        </a:rPr>
                        <a:t>Full attention</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All previous tokens</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O(N²)</a:t>
                      </a:r>
                    </a:p>
                  </a:txBody>
                  <a:tcPr marL="133350" marR="114300" marT="114300" marB="114300" anchor="ctr">
                    <a:solidFill>
                      <a:srgbClr val="FFFFFF"/>
                    </a:solidFill>
                  </a:tcPr>
                </a:tc>
              </a:tr>
              <a:tr h="749300">
                <a:tc>
                  <a:txBody>
                    <a:bodyPr/>
                    <a:lstStyle/>
                    <a:p>
                      <a:pPr algn="l"/>
                      <a:r>
                        <a:rPr sz="2250" b="0">
                          <a:solidFill>
                            <a:srgbClr val="292F43"/>
                          </a:solidFill>
                          <a:latin typeface="Arial"/>
                          <a:ea typeface="Arial"/>
                          <a:cs typeface="Arial"/>
                        </a:rPr>
                        <a:t>Sliding window</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Last w tokens</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O(Nw)</a:t>
                      </a:r>
                    </a:p>
                  </a:txBody>
                  <a:tcPr marL="133350" marR="114300" marT="114300" marB="114300" anchor="ctr">
                    <a:solidFill>
                      <a:srgbClr val="FFFFFF"/>
                    </a:solidFill>
                  </a:tcPr>
                </a:tc>
              </a:tr>
            </a:tbl>
          </a:graphicData>
        </a:graphic>
      </p:graphicFrame>
      <p:sp>
        <p:nvSpPr>
          <p:cNvPr id="5" name="Static hybrids fix the attention type by layer">
            <a:extLst xmlns:a="http://schemas.openxmlformats.org/drawingml/2006/main">
              <a:ext uri="{FF2B5EF4-FFF2-40B4-BE49-F238E27FC236}">
                <a16:creationId xmlns:a16="http://schemas.microsoft.com/office/drawing/2014/main" id="{2681D258-030A-4E38-BC93-BF9088549103}"/>
              </a:ext>
            </a:extLst>
          </p:cNvPr>
          <p:cNvSpPr>
            <a:spLocks xmlns:a="http://schemas.openxmlformats.org/drawingml/2006/main" noGrp="1"/>
          </p:cNvSpPr>
          <p:nvPr/>
        </p:nvSpPr>
        <p:spPr>
          <a:xfrm xmlns:a="http://schemas.openxmlformats.org/drawingml/2006/main">
            <a:off x="609600" y="4276725"/>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92F43"/>
                </a:solidFill>
                <a:latin typeface="Arial"/>
                <a:ea typeface="Arial"/>
                <a:cs typeface="Arial"/>
              </a:defRPr>
            </a:defPPr>
          </a:lstStyle>
          <a:p xmlns:a="http://schemas.openxmlformats.org/drawingml/2006/main">
            <a:pPr algn="l">
              <a:defRPr sz="2400" b="1">
                <a:solidFill>
                  <a:srgbClr val="292F43"/>
                </a:solidFill>
                <a:latin typeface="Arial"/>
                <a:ea typeface="Arial"/>
                <a:cs typeface="Arial"/>
              </a:defRPr>
            </a:pPr>
            <a:r>
              <a:rPr sz="2400" b="1">
                <a:solidFill>
                  <a:srgbClr val="292F43"/>
                </a:solidFill>
                <a:latin typeface="Arial"/>
                <a:ea typeface="Arial"/>
                <a:cs typeface="Arial"/>
              </a:rPr>
              <a:t>Static hybrids fix the attention type by layer</a:t>
            </a:r>
          </a:p>
        </p:txBody>
      </p:sp>
      <p:sp>
        <p:nvSpPr>
          <p:cNvPr id="6" name="The need for distant context can change from token to token.">
            <a:extLst xmlns:a="http://schemas.openxmlformats.org/drawingml/2006/main">
              <a:ext uri="{FF2B5EF4-FFF2-40B4-BE49-F238E27FC236}">
                <a16:creationId xmlns:a16="http://schemas.microsoft.com/office/drawing/2014/main" id="{A81289FA-D85D-4652-808E-A475D3AACB74}"/>
              </a:ext>
            </a:extLst>
          </p:cNvPr>
          <p:cNvSpPr>
            <a:spLocks xmlns:a="http://schemas.openxmlformats.org/drawingml/2006/main" noGrp="1"/>
          </p:cNvSpPr>
          <p:nvPr/>
        </p:nvSpPr>
        <p:spPr>
          <a:xfrm xmlns:a="http://schemas.openxmlformats.org/drawingml/2006/main">
            <a:off x="609600" y="4962525"/>
            <a:ext cx="10668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647080"/>
                </a:solidFill>
                <a:latin typeface="Arial"/>
                <a:ea typeface="Arial"/>
                <a:cs typeface="Arial"/>
              </a:defRPr>
            </a:defPPr>
          </a:lstStyle>
          <a:p xmlns:a="http://schemas.openxmlformats.org/drawingml/2006/main">
            <a:pPr algn="l">
              <a:defRPr sz="2325" b="0">
                <a:solidFill>
                  <a:srgbClr val="647080"/>
                </a:solidFill>
                <a:latin typeface="Arial"/>
                <a:ea typeface="Arial"/>
                <a:cs typeface="Arial"/>
              </a:defRPr>
            </a:pPr>
            <a:r>
              <a:rPr sz="2325" b="0">
                <a:solidFill>
                  <a:srgbClr val="647080"/>
                </a:solidFill>
                <a:latin typeface="Arial"/>
                <a:ea typeface="Arial"/>
                <a:cs typeface="Arial"/>
              </a:rPr>
              <a:t>The need for distant context can change from token to token.</a:t>
            </a:r>
          </a:p>
        </p:txBody>
      </p:sp>
    </p:spTree>
    <p:extLst>
      <p:ext uri="{BB962C8B-B14F-4D97-AF65-F5344CB8AC3E}">
        <p14:creationId xmlns:p14="http://schemas.microsoft.com/office/powerpoint/2010/main" val="110449910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 content-dependent choice at every token and layer">
            <a:extLst xmlns:a="http://schemas.openxmlformats.org/drawingml/2006/main">
              <a:ext uri="{FF2B5EF4-FFF2-40B4-BE49-F238E27FC236}">
                <a16:creationId xmlns:a16="http://schemas.microsoft.com/office/drawing/2014/main" id="{72D5BE9C-79C6-47E8-B640-ACC81EAD29DF}"/>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 content-dependent choice at every token and layer</a:t>
            </a:r>
          </a:p>
        </p:txBody>
      </p:sp>
      <p:pic>
        <p:nvPicPr>
          <p:cNvPr id="2" name="">
            <a:extLst xmlns:a="http://schemas.openxmlformats.org/drawingml/2006/main">
              <a:ext uri="{FF2B5EF4-FFF2-40B4-BE49-F238E27FC236}">
                <a16:creationId xmlns:a16="http://schemas.microsoft.com/office/drawing/2014/main" id="{D789EB80-16EB-490F-840A-8303151A010E}"/>
              </a:ext>
            </a:extLst>
          </p:cNvPr>
          <p:cNvPicPr>
            <a:picLocks xmlns:a="http://schemas.openxmlformats.org/drawingml/2006/main" noChangeAspect="1"/>
          </p:cNvPicPr>
          <p:nvPr/>
        </p:nvPicPr>
        <p:blipFill>
          <a:blip xmlns:r="http://schemas.openxmlformats.org/officeDocument/2006/relationships" xmlns:a="http://schemas.openxmlformats.org/drawingml/2006/main" r:embed="R0d3a26eb60614968"/>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3">
            <a:extLst xmlns:a="http://schemas.openxmlformats.org/drawingml/2006/main">
              <a:ext uri="{FF2B5EF4-FFF2-40B4-BE49-F238E27FC236}">
                <a16:creationId xmlns:a16="http://schemas.microsoft.com/office/drawing/2014/main" id="{638396B6-9B03-4A11-B0A3-5B52BA443D0E}"/>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03</a:t>
            </a:r>
          </a:p>
        </p:txBody>
      </p:sp>
      <p:sp>
        <p:nvSpPr>
          <p:cNvPr id="4" name="One routing&#10;decision">
            <a:extLst xmlns:a="http://schemas.openxmlformats.org/drawingml/2006/main">
              <a:ext uri="{FF2B5EF4-FFF2-40B4-BE49-F238E27FC236}">
                <a16:creationId xmlns:a16="http://schemas.microsoft.com/office/drawing/2014/main" id="{288B8406-8FD9-4AA0-87E3-FCFE0BC7756C}"/>
              </a:ext>
            </a:extLst>
          </p:cNvPr>
          <p:cNvSpPr>
            <a:spLocks xmlns:a="http://schemas.openxmlformats.org/drawingml/2006/main" noGrp="1"/>
          </p:cNvSpPr>
          <p:nvPr/>
        </p:nvSpPr>
        <p:spPr>
          <a:xfrm xmlns:a="http://schemas.openxmlformats.org/drawingml/2006/main">
            <a:off x="609600" y="1866900"/>
            <a:ext cx="4400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416F51"/>
                </a:solidFill>
                <a:latin typeface="Arial"/>
                <a:ea typeface="Arial"/>
                <a:cs typeface="Arial"/>
              </a:defRPr>
            </a:defPPr>
          </a:lstStyle>
          <a:p xmlns:a="http://schemas.openxmlformats.org/drawingml/2006/main">
            <a:pPr algn="l">
              <a:defRPr sz="3525" b="1">
                <a:solidFill>
                  <a:srgbClr val="416F51"/>
                </a:solidFill>
                <a:latin typeface="Arial"/>
                <a:ea typeface="Arial"/>
                <a:cs typeface="Arial"/>
              </a:defRPr>
            </a:pPr>
            <a:r>
              <a:rPr sz="3525" b="1">
                <a:solidFill>
                  <a:srgbClr val="416F51"/>
                </a:solidFill>
                <a:latin typeface="Arial"/>
                <a:ea typeface="Arial"/>
                <a:cs typeface="Arial"/>
              </a:rPr>
              <a:t>One routing</a:t>
            </a:r>
          </a:p>
          <a:p xmlns:a="http://schemas.openxmlformats.org/drawingml/2006/main">
            <a:pPr algn="l">
              <a:defRPr sz="3525" b="1">
                <a:solidFill>
                  <a:srgbClr val="416F51"/>
                </a:solidFill>
                <a:latin typeface="Arial"/>
                <a:ea typeface="Arial"/>
                <a:cs typeface="Arial"/>
              </a:defRPr>
            </a:pPr>
            <a:r>
              <a:rPr sz="3525" b="1">
                <a:solidFill>
                  <a:srgbClr val="416F51"/>
                </a:solidFill>
                <a:latin typeface="Arial"/>
                <a:ea typeface="Arial"/>
                <a:cs typeface="Arial"/>
              </a:rPr>
              <a:t>decision</a:t>
            </a:r>
          </a:p>
        </p:txBody>
      </p:sp>
      <p:sp>
        <p:nvSpPr>
          <p:cNvPr id="5" name="Full attention&#10;for global context">
            <a:extLst xmlns:a="http://schemas.openxmlformats.org/drawingml/2006/main">
              <a:ext uri="{FF2B5EF4-FFF2-40B4-BE49-F238E27FC236}">
                <a16:creationId xmlns:a16="http://schemas.microsoft.com/office/drawing/2014/main" id="{1937A9A2-0AE0-4C3C-863F-FAF97CF1456E}"/>
              </a:ext>
            </a:extLst>
          </p:cNvPr>
          <p:cNvSpPr>
            <a:spLocks xmlns:a="http://schemas.openxmlformats.org/drawingml/2006/main" noGrp="1"/>
          </p:cNvSpPr>
          <p:nvPr/>
        </p:nvSpPr>
        <p:spPr>
          <a:xfrm xmlns:a="http://schemas.openxmlformats.org/drawingml/2006/main">
            <a:off x="609600" y="3448050"/>
            <a:ext cx="41624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92F43"/>
                </a:solidFill>
                <a:latin typeface="Arial"/>
                <a:ea typeface="Arial"/>
                <a:cs typeface="Arial"/>
              </a:defRPr>
            </a:defPPr>
          </a:lstStyle>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Full attention</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for global context</a:t>
            </a:r>
          </a:p>
        </p:txBody>
      </p:sp>
      <p:sp>
        <p:nvSpPr>
          <p:cNvPr id="6" name="Sliding window&#10;for local context">
            <a:extLst xmlns:a="http://schemas.openxmlformats.org/drawingml/2006/main">
              <a:ext uri="{FF2B5EF4-FFF2-40B4-BE49-F238E27FC236}">
                <a16:creationId xmlns:a16="http://schemas.microsoft.com/office/drawing/2014/main" id="{2FF82F17-2E30-4E30-A953-9814B0A2817E}"/>
              </a:ext>
            </a:extLst>
          </p:cNvPr>
          <p:cNvSpPr>
            <a:spLocks xmlns:a="http://schemas.openxmlformats.org/drawingml/2006/main" noGrp="1"/>
          </p:cNvSpPr>
          <p:nvPr/>
        </p:nvSpPr>
        <p:spPr>
          <a:xfrm xmlns:a="http://schemas.openxmlformats.org/drawingml/2006/main">
            <a:off x="609600" y="4676775"/>
            <a:ext cx="41624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92F43"/>
                </a:solidFill>
                <a:latin typeface="Arial"/>
                <a:ea typeface="Arial"/>
                <a:cs typeface="Arial"/>
              </a:defRPr>
            </a:defPPr>
          </a:lstStyle>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Sliding window</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for local context</a:t>
            </a:r>
          </a:p>
        </p:txBody>
      </p:sp>
      <p:pic>
        <p:nvPicPr>
          <p:cNvPr id="7" name="">
            <a:extLst xmlns:a="http://schemas.openxmlformats.org/drawingml/2006/main">
              <a:ext uri="{FF2B5EF4-FFF2-40B4-BE49-F238E27FC236}">
                <a16:creationId xmlns:a16="http://schemas.microsoft.com/office/drawing/2014/main" id="{10F825C3-1153-46F8-948C-C45B3D160AF6}"/>
              </a:ext>
            </a:extLst>
          </p:cNvPr>
          <p:cNvPicPr>
            <a:picLocks xmlns:a="http://schemas.openxmlformats.org/drawingml/2006/main" noChangeAspect="1"/>
          </p:cNvPicPr>
          <p:nvPr/>
        </p:nvPicPr>
        <p:blipFill>
          <a:blip xmlns:r="http://schemas.openxmlformats.org/officeDocument/2006/relationships" xmlns:a="http://schemas.openxmlformats.org/drawingml/2006/main" r:embed="Rb6fe34e896a241a6"/>
          <a:stretch xmlns:a="http://schemas.openxmlformats.org/drawingml/2006/main"/>
        </p:blipFill>
        <p:spPr>
          <a:xfrm xmlns:a="http://schemas.openxmlformats.org/drawingml/2006/main">
            <a:off x="5553075" y="1438891"/>
            <a:ext cx="4791075" cy="4866042"/>
          </a:xfrm>
          <a:prstGeom xmlns:a="http://schemas.openxmlformats.org/drawingml/2006/main" prst="rect">
            <a:avLst/>
          </a:prstGeom>
        </p:spPr>
      </p:pic>
    </p:spTree>
    <p:extLst>
      <p:ext uri="{BB962C8B-B14F-4D97-AF65-F5344CB8AC3E}">
        <p14:creationId xmlns:p14="http://schemas.microsoft.com/office/powerpoint/2010/main" val="212163801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t inference, the router selects one branch">
            <a:extLst xmlns:a="http://schemas.openxmlformats.org/drawingml/2006/main">
              <a:ext uri="{FF2B5EF4-FFF2-40B4-BE49-F238E27FC236}">
                <a16:creationId xmlns:a16="http://schemas.microsoft.com/office/drawing/2014/main" id="{34EBE4FD-A231-4509-B1BB-E3E4E2F5B1ED}"/>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At inference, the router selects one branch</a:t>
            </a:r>
          </a:p>
        </p:txBody>
      </p:sp>
      <p:pic>
        <p:nvPicPr>
          <p:cNvPr id="2" name="">
            <a:extLst xmlns:a="http://schemas.openxmlformats.org/drawingml/2006/main">
              <a:ext uri="{FF2B5EF4-FFF2-40B4-BE49-F238E27FC236}">
                <a16:creationId xmlns:a16="http://schemas.microsoft.com/office/drawing/2014/main" id="{91FE2C04-BF68-42A4-A82A-4E7ADE0BC44C}"/>
              </a:ext>
            </a:extLst>
          </p:cNvPr>
          <p:cNvPicPr>
            <a:picLocks xmlns:a="http://schemas.openxmlformats.org/drawingml/2006/main" noChangeAspect="1"/>
          </p:cNvPicPr>
          <p:nvPr/>
        </p:nvPicPr>
        <p:blipFill>
          <a:blip xmlns:r="http://schemas.openxmlformats.org/officeDocument/2006/relationships" xmlns:a="http://schemas.openxmlformats.org/drawingml/2006/main" r:embed="Rff806a880a224b90"/>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4">
            <a:extLst xmlns:a="http://schemas.openxmlformats.org/drawingml/2006/main">
              <a:ext uri="{FF2B5EF4-FFF2-40B4-BE49-F238E27FC236}">
                <a16:creationId xmlns:a16="http://schemas.microsoft.com/office/drawing/2014/main" id="{80B5C2B5-DB2B-41C7-AEDF-10738F9AA5B1}"/>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04</a:t>
            </a:r>
          </a:p>
        </p:txBody>
      </p:sp>
      <p:pic>
        <p:nvPicPr>
          <p:cNvPr id="4" name="">
            <a:extLst xmlns:a="http://schemas.openxmlformats.org/drawingml/2006/main">
              <a:ext uri="{FF2B5EF4-FFF2-40B4-BE49-F238E27FC236}">
                <a16:creationId xmlns:a16="http://schemas.microsoft.com/office/drawing/2014/main" id="{C479B4AD-BEE6-4972-97E7-26A3CEABCE55}"/>
              </a:ext>
            </a:extLst>
          </p:cNvPr>
          <p:cNvPicPr>
            <a:picLocks xmlns:a="http://schemas.openxmlformats.org/drawingml/2006/main" noChangeAspect="1"/>
          </p:cNvPicPr>
          <p:nvPr/>
        </p:nvPicPr>
        <p:blipFill>
          <a:blip xmlns:r="http://schemas.openxmlformats.org/officeDocument/2006/relationships" xmlns:a="http://schemas.openxmlformats.org/drawingml/2006/main" r:embed="R6dabc331c3c44a0f"/>
          <a:stretch xmlns:a="http://schemas.openxmlformats.org/drawingml/2006/main"/>
        </p:blipFill>
        <p:spPr>
          <a:xfrm xmlns:a="http://schemas.openxmlformats.org/drawingml/2006/main">
            <a:off x="609600" y="1869000"/>
            <a:ext cx="5829300" cy="3786750"/>
          </a:xfrm>
          <a:prstGeom xmlns:a="http://schemas.openxmlformats.org/drawingml/2006/main" prst="rect">
            <a:avLst/>
          </a:prstGeom>
        </p:spPr>
      </p:pic>
      <p:sp>
        <p:nvSpPr>
          <p:cNvPr id="5" name="p = sigmoid(R(h))">
            <a:extLst xmlns:a="http://schemas.openxmlformats.org/drawingml/2006/main">
              <a:ext uri="{FF2B5EF4-FFF2-40B4-BE49-F238E27FC236}">
                <a16:creationId xmlns:a16="http://schemas.microsoft.com/office/drawing/2014/main" id="{4E7D57BE-234F-42DC-A9E9-33D8E9F40F12}"/>
              </a:ext>
            </a:extLst>
          </p:cNvPr>
          <p:cNvSpPr>
            <a:spLocks xmlns:a="http://schemas.openxmlformats.org/drawingml/2006/main" noGrp="1"/>
          </p:cNvSpPr>
          <p:nvPr/>
        </p:nvSpPr>
        <p:spPr>
          <a:xfrm xmlns:a="http://schemas.openxmlformats.org/drawingml/2006/main">
            <a:off x="7086600" y="1885950"/>
            <a:ext cx="45434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292F43"/>
                </a:solidFill>
                <a:latin typeface="Arial"/>
                <a:ea typeface="Arial"/>
                <a:cs typeface="Arial"/>
              </a:defRPr>
            </a:defPPr>
          </a:lstStyle>
          <a:p xmlns:a="http://schemas.openxmlformats.org/drawingml/2006/main">
            <a:pPr algn="l">
              <a:defRPr sz="2775" b="1">
                <a:solidFill>
                  <a:srgbClr val="292F43"/>
                </a:solidFill>
                <a:latin typeface="Arial"/>
                <a:ea typeface="Arial"/>
                <a:cs typeface="Arial"/>
              </a:defRPr>
            </a:pPr>
            <a:r>
              <a:rPr sz="2775" b="1">
                <a:solidFill>
                  <a:srgbClr val="292F43"/>
                </a:solidFill>
                <a:latin typeface="Arial"/>
                <a:ea typeface="Arial"/>
                <a:cs typeface="Arial"/>
              </a:rPr>
              <a:t>p = sigmoid(R(h))</a:t>
            </a:r>
          </a:p>
        </p:txBody>
      </p:sp>
      <p:sp>
        <p:nvSpPr>
          <p:cNvPr id="6" name="p &gt; 0.5: full attention&#10;p ≤ 0.5: sliding window">
            <a:extLst xmlns:a="http://schemas.openxmlformats.org/drawingml/2006/main">
              <a:ext uri="{FF2B5EF4-FFF2-40B4-BE49-F238E27FC236}">
                <a16:creationId xmlns:a16="http://schemas.microsoft.com/office/drawing/2014/main" id="{1B3D8C37-6F74-429C-B223-27ADA5A40216}"/>
              </a:ext>
            </a:extLst>
          </p:cNvPr>
          <p:cNvSpPr>
            <a:spLocks xmlns:a="http://schemas.openxmlformats.org/drawingml/2006/main" noGrp="1"/>
          </p:cNvSpPr>
          <p:nvPr/>
        </p:nvSpPr>
        <p:spPr>
          <a:xfrm xmlns:a="http://schemas.openxmlformats.org/drawingml/2006/main">
            <a:off x="7086600" y="2724150"/>
            <a:ext cx="45434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p &gt; 0.5: full attention</a:t>
            </a:r>
          </a:p>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p ≤ 0.5: sliding window</a:t>
            </a:r>
          </a:p>
        </p:txBody>
      </p:sp>
      <p:sp>
        <p:nvSpPr>
          <p:cNvPr id="7" name="Shared QKV projections&#10;One shared KV cache">
            <a:extLst xmlns:a="http://schemas.openxmlformats.org/drawingml/2006/main">
              <a:ext uri="{FF2B5EF4-FFF2-40B4-BE49-F238E27FC236}">
                <a16:creationId xmlns:a16="http://schemas.microsoft.com/office/drawing/2014/main" id="{6052D3D9-C961-49FA-88DA-9FB4E8B1BB47}"/>
              </a:ext>
            </a:extLst>
          </p:cNvPr>
          <p:cNvSpPr>
            <a:spLocks xmlns:a="http://schemas.openxmlformats.org/drawingml/2006/main" noGrp="1"/>
          </p:cNvSpPr>
          <p:nvPr/>
        </p:nvSpPr>
        <p:spPr>
          <a:xfrm xmlns:a="http://schemas.openxmlformats.org/drawingml/2006/main">
            <a:off x="7086600" y="4000500"/>
            <a:ext cx="45434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416F51"/>
                </a:solidFill>
                <a:latin typeface="Arial"/>
                <a:ea typeface="Arial"/>
                <a:cs typeface="Arial"/>
              </a:defRPr>
            </a:defPPr>
          </a:lstStyle>
          <a:p xmlns:a="http://schemas.openxmlformats.org/drawingml/2006/main">
            <a:pPr algn="l">
              <a:defRPr sz="2250" b="1">
                <a:solidFill>
                  <a:srgbClr val="416F51"/>
                </a:solidFill>
                <a:latin typeface="Arial"/>
                <a:ea typeface="Arial"/>
                <a:cs typeface="Arial"/>
              </a:defRPr>
            </a:pPr>
            <a:r>
              <a:rPr sz="2250" b="1">
                <a:solidFill>
                  <a:srgbClr val="416F51"/>
                </a:solidFill>
                <a:latin typeface="Arial"/>
                <a:ea typeface="Arial"/>
                <a:cs typeface="Arial"/>
              </a:rPr>
              <a:t>Shared QKV projections</a:t>
            </a:r>
          </a:p>
          <a:p xmlns:a="http://schemas.openxmlformats.org/drawingml/2006/main">
            <a:pPr algn="l">
              <a:defRPr sz="2250" b="1">
                <a:solidFill>
                  <a:srgbClr val="416F51"/>
                </a:solidFill>
                <a:latin typeface="Arial"/>
                <a:ea typeface="Arial"/>
                <a:cs typeface="Arial"/>
              </a:defRPr>
            </a:pPr>
            <a:r>
              <a:rPr sz="2250" b="1">
                <a:solidFill>
                  <a:srgbClr val="416F51"/>
                </a:solidFill>
                <a:latin typeface="Arial"/>
                <a:ea typeface="Arial"/>
                <a:cs typeface="Arial"/>
              </a:rPr>
              <a:t>One shared KV cache</a:t>
            </a:r>
          </a:p>
        </p:txBody>
      </p:sp>
      <p:sp>
        <p:nvSpPr>
          <p:cNvPr id="8" name="Only the selected branch runs.">
            <a:extLst xmlns:a="http://schemas.openxmlformats.org/drawingml/2006/main">
              <a:ext uri="{FF2B5EF4-FFF2-40B4-BE49-F238E27FC236}">
                <a16:creationId xmlns:a16="http://schemas.microsoft.com/office/drawing/2014/main" id="{89564888-B36B-4AEE-9AD5-56FF3EDE4352}"/>
              </a:ext>
            </a:extLst>
          </p:cNvPr>
          <p:cNvSpPr>
            <a:spLocks xmlns:a="http://schemas.openxmlformats.org/drawingml/2006/main" noGrp="1"/>
          </p:cNvSpPr>
          <p:nvPr/>
        </p:nvSpPr>
        <p:spPr>
          <a:xfrm xmlns:a="http://schemas.openxmlformats.org/drawingml/2006/main">
            <a:off x="7086600" y="5229225"/>
            <a:ext cx="4543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80"/>
                </a:solidFill>
                <a:latin typeface="Arial"/>
                <a:ea typeface="Arial"/>
                <a:cs typeface="Arial"/>
              </a:defRPr>
            </a:defPPr>
          </a:lstStyle>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Only the selected branch runs.</a:t>
            </a:r>
          </a:p>
        </p:txBody>
      </p:sp>
    </p:spTree>
    <p:extLst>
      <p:ext uri="{BB962C8B-B14F-4D97-AF65-F5344CB8AC3E}">
        <p14:creationId xmlns:p14="http://schemas.microsoft.com/office/powerpoint/2010/main" val="7319688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daptive regularization encourages local attention">
            <a:extLst xmlns:a="http://schemas.openxmlformats.org/drawingml/2006/main">
              <a:ext uri="{FF2B5EF4-FFF2-40B4-BE49-F238E27FC236}">
                <a16:creationId xmlns:a16="http://schemas.microsoft.com/office/drawing/2014/main" id="{DCF58939-8088-4112-A5B7-B64EEEFE6E97}"/>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Adaptive regularization encourages local attention</a:t>
            </a:r>
          </a:p>
        </p:txBody>
      </p:sp>
      <p:pic>
        <p:nvPicPr>
          <p:cNvPr id="2" name="">
            <a:extLst xmlns:a="http://schemas.openxmlformats.org/drawingml/2006/main">
              <a:ext uri="{FF2B5EF4-FFF2-40B4-BE49-F238E27FC236}">
                <a16:creationId xmlns:a16="http://schemas.microsoft.com/office/drawing/2014/main" id="{BA4A49FE-C0B4-4C34-8FF1-D885034A744E}"/>
              </a:ext>
            </a:extLst>
          </p:cNvPr>
          <p:cNvPicPr>
            <a:picLocks xmlns:a="http://schemas.openxmlformats.org/drawingml/2006/main" noChangeAspect="1"/>
          </p:cNvPicPr>
          <p:nvPr/>
        </p:nvPicPr>
        <p:blipFill>
          <a:blip xmlns:r="http://schemas.openxmlformats.org/officeDocument/2006/relationships" xmlns:a="http://schemas.openxmlformats.org/drawingml/2006/main" r:embed="R7a2699e1b8b843cd"/>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5">
            <a:extLst xmlns:a="http://schemas.openxmlformats.org/drawingml/2006/main">
              <a:ext uri="{FF2B5EF4-FFF2-40B4-BE49-F238E27FC236}">
                <a16:creationId xmlns:a16="http://schemas.microsoft.com/office/drawing/2014/main" id="{8BA69052-0CC6-4B7A-876A-5C208922F4C3}"/>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05</a:t>
            </a:r>
          </a:p>
        </p:txBody>
      </p:sp>
      <p:sp>
        <p:nvSpPr>
          <p:cNvPr id="4" name="Router penalty = γ · softplus(R(h))">
            <a:extLst xmlns:a="http://schemas.openxmlformats.org/drawingml/2006/main">
              <a:ext uri="{FF2B5EF4-FFF2-40B4-BE49-F238E27FC236}">
                <a16:creationId xmlns:a16="http://schemas.microsoft.com/office/drawing/2014/main" id="{6C015F31-7F21-4F33-ABBA-7D9678BED72C}"/>
              </a:ext>
            </a:extLst>
          </p:cNvPr>
          <p:cNvSpPr>
            <a:spLocks xmlns:a="http://schemas.openxmlformats.org/drawingml/2006/main" noGrp="1"/>
          </p:cNvSpPr>
          <p:nvPr/>
        </p:nvSpPr>
        <p:spPr>
          <a:xfrm xmlns:a="http://schemas.openxmlformats.org/drawingml/2006/main">
            <a:off x="609600" y="1628775"/>
            <a:ext cx="109728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416F51"/>
                </a:solidFill>
                <a:latin typeface="Arial"/>
                <a:ea typeface="Arial"/>
                <a:cs typeface="Arial"/>
              </a:defRPr>
            </a:defPPr>
          </a:lstStyle>
          <a:p xmlns:a="http://schemas.openxmlformats.org/drawingml/2006/main">
            <a:pPr algn="l">
              <a:defRPr sz="3000" b="1">
                <a:solidFill>
                  <a:srgbClr val="416F51"/>
                </a:solidFill>
                <a:latin typeface="Arial"/>
                <a:ea typeface="Arial"/>
                <a:cs typeface="Arial"/>
              </a:defRPr>
            </a:pPr>
            <a:r>
              <a:rPr sz="3000" b="1">
                <a:solidFill>
                  <a:srgbClr val="416F51"/>
                </a:solidFill>
                <a:latin typeface="Arial"/>
                <a:ea typeface="Arial"/>
                <a:cs typeface="Arial"/>
              </a:rPr>
              <a:t>Router penalty = γ · softplus(R(h))</a:t>
            </a:r>
          </a:p>
        </p:txBody>
      </p:sp>
      <p:sp>
        <p:nvSpPr>
          <p:cNvPr id="5" name="γ = base weight / (ε + NLL + α · MSE)">
            <a:extLst xmlns:a="http://schemas.openxmlformats.org/drawingml/2006/main">
              <a:ext uri="{FF2B5EF4-FFF2-40B4-BE49-F238E27FC236}">
                <a16:creationId xmlns:a16="http://schemas.microsoft.com/office/drawing/2014/main" id="{0CFD82A9-8DF9-4378-B9B8-747C77DA707D}"/>
              </a:ext>
            </a:extLst>
          </p:cNvPr>
          <p:cNvSpPr>
            <a:spLocks xmlns:a="http://schemas.openxmlformats.org/drawingml/2006/main" noGrp="1"/>
          </p:cNvSpPr>
          <p:nvPr/>
        </p:nvSpPr>
        <p:spPr>
          <a:xfrm xmlns:a="http://schemas.openxmlformats.org/drawingml/2006/main">
            <a:off x="609600" y="24193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92F43"/>
                </a:solidFill>
                <a:latin typeface="Arial"/>
                <a:ea typeface="Arial"/>
                <a:cs typeface="Arial"/>
              </a:defRPr>
            </a:defPPr>
          </a:lstStyle>
          <a:p xmlns:a="http://schemas.openxmlformats.org/drawingml/2006/main">
            <a:pPr algn="l">
              <a:defRPr sz="2850" b="0">
                <a:solidFill>
                  <a:srgbClr val="292F43"/>
                </a:solidFill>
                <a:latin typeface="Arial"/>
                <a:ea typeface="Arial"/>
                <a:cs typeface="Arial"/>
              </a:defRPr>
            </a:pPr>
            <a:r>
              <a:rPr sz="2850" b="0">
                <a:solidFill>
                  <a:srgbClr val="292F43"/>
                </a:solidFill>
                <a:latin typeface="Arial"/>
                <a:ea typeface="Arial"/>
                <a:cs typeface="Arial"/>
              </a:rPr>
              <a:t>γ = base weight / (ε + NLL + α · MSE)</a:t>
            </a:r>
          </a:p>
        </p:txBody>
      </p:sp>
      <p:sp>
        <p:nvSpPr>
          <p:cNvPr id="6" name="Easy prediction&#10;Similar branch outputs">
            <a:extLst xmlns:a="http://schemas.openxmlformats.org/drawingml/2006/main">
              <a:ext uri="{FF2B5EF4-FFF2-40B4-BE49-F238E27FC236}">
                <a16:creationId xmlns:a16="http://schemas.microsoft.com/office/drawing/2014/main" id="{7B027339-DF8B-45C1-B45E-EE89982FE84D}"/>
              </a:ext>
            </a:extLst>
          </p:cNvPr>
          <p:cNvSpPr>
            <a:spLocks xmlns:a="http://schemas.openxmlformats.org/drawingml/2006/main" noGrp="1"/>
          </p:cNvSpPr>
          <p:nvPr/>
        </p:nvSpPr>
        <p:spPr>
          <a:xfrm xmlns:a="http://schemas.openxmlformats.org/drawingml/2006/main">
            <a:off x="609600" y="3495675"/>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292F43"/>
                </a:solidFill>
                <a:latin typeface="Arial"/>
                <a:ea typeface="Arial"/>
                <a:cs typeface="Arial"/>
              </a:defRPr>
            </a:defPPr>
          </a:lstStyle>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Easy prediction</a:t>
            </a:r>
          </a:p>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Similar branch outputs</a:t>
            </a:r>
          </a:p>
        </p:txBody>
      </p:sp>
      <p:sp>
        <p:nvSpPr>
          <p:cNvPr id="7" name="Stronger pressure to use SWA">
            <a:extLst xmlns:a="http://schemas.openxmlformats.org/drawingml/2006/main">
              <a:ext uri="{FF2B5EF4-FFF2-40B4-BE49-F238E27FC236}">
                <a16:creationId xmlns:a16="http://schemas.microsoft.com/office/drawing/2014/main" id="{CF86CAA5-06D0-4FB2-B7E5-A283F1A4D620}"/>
              </a:ext>
            </a:extLst>
          </p:cNvPr>
          <p:cNvSpPr>
            <a:spLocks xmlns:a="http://schemas.openxmlformats.org/drawingml/2006/main" noGrp="1"/>
          </p:cNvSpPr>
          <p:nvPr/>
        </p:nvSpPr>
        <p:spPr>
          <a:xfrm xmlns:a="http://schemas.openxmlformats.org/drawingml/2006/main">
            <a:off x="609600" y="4572000"/>
            <a:ext cx="4953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16F51"/>
                </a:solidFill>
                <a:latin typeface="Arial"/>
                <a:ea typeface="Arial"/>
                <a:cs typeface="Arial"/>
              </a:defRPr>
            </a:defPPr>
          </a:lstStyle>
          <a:p xmlns:a="http://schemas.openxmlformats.org/drawingml/2006/main">
            <a:pPr algn="l">
              <a:defRPr sz="2100" b="0">
                <a:solidFill>
                  <a:srgbClr val="416F51"/>
                </a:solidFill>
                <a:latin typeface="Arial"/>
                <a:ea typeface="Arial"/>
                <a:cs typeface="Arial"/>
              </a:defRPr>
            </a:pPr>
            <a:r>
              <a:rPr sz="2100" b="0">
                <a:solidFill>
                  <a:srgbClr val="416F51"/>
                </a:solidFill>
                <a:latin typeface="Arial"/>
                <a:ea typeface="Arial"/>
                <a:cs typeface="Arial"/>
              </a:rPr>
              <a:t>Stronger pressure to use SWA</a:t>
            </a:r>
          </a:p>
        </p:txBody>
      </p:sp>
      <p:sp>
        <p:nvSpPr>
          <p:cNvPr id="8" name="Hard prediction&#10;Different branch outputs">
            <a:extLst xmlns:a="http://schemas.openxmlformats.org/drawingml/2006/main">
              <a:ext uri="{FF2B5EF4-FFF2-40B4-BE49-F238E27FC236}">
                <a16:creationId xmlns:a16="http://schemas.microsoft.com/office/drawing/2014/main" id="{9A80F289-B2BD-401D-BF88-E69EC464201D}"/>
              </a:ext>
            </a:extLst>
          </p:cNvPr>
          <p:cNvSpPr>
            <a:spLocks xmlns:a="http://schemas.openxmlformats.org/drawingml/2006/main" noGrp="1"/>
          </p:cNvSpPr>
          <p:nvPr/>
        </p:nvSpPr>
        <p:spPr>
          <a:xfrm xmlns:a="http://schemas.openxmlformats.org/drawingml/2006/main">
            <a:off x="6429375" y="3495675"/>
            <a:ext cx="50958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292F43"/>
                </a:solidFill>
                <a:latin typeface="Arial"/>
                <a:ea typeface="Arial"/>
                <a:cs typeface="Arial"/>
              </a:defRPr>
            </a:defPPr>
          </a:lstStyle>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Hard prediction</a:t>
            </a:r>
          </a:p>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Different branch outputs</a:t>
            </a:r>
          </a:p>
        </p:txBody>
      </p:sp>
      <p:sp>
        <p:nvSpPr>
          <p:cNvPr id="9" name="Weaker pressure to use SWA">
            <a:extLst xmlns:a="http://schemas.openxmlformats.org/drawingml/2006/main">
              <a:ext uri="{FF2B5EF4-FFF2-40B4-BE49-F238E27FC236}">
                <a16:creationId xmlns:a16="http://schemas.microsoft.com/office/drawing/2014/main" id="{6EDEF47C-E528-4A71-9266-AC762ED9A1A2}"/>
              </a:ext>
            </a:extLst>
          </p:cNvPr>
          <p:cNvSpPr>
            <a:spLocks xmlns:a="http://schemas.openxmlformats.org/drawingml/2006/main" noGrp="1"/>
          </p:cNvSpPr>
          <p:nvPr/>
        </p:nvSpPr>
        <p:spPr>
          <a:xfrm xmlns:a="http://schemas.openxmlformats.org/drawingml/2006/main">
            <a:off x="6429375" y="4572000"/>
            <a:ext cx="5095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16F51"/>
                </a:solidFill>
                <a:latin typeface="Arial"/>
                <a:ea typeface="Arial"/>
                <a:cs typeface="Arial"/>
              </a:defRPr>
            </a:defPPr>
          </a:lstStyle>
          <a:p xmlns:a="http://schemas.openxmlformats.org/drawingml/2006/main">
            <a:pPr algn="l">
              <a:defRPr sz="2100" b="0">
                <a:solidFill>
                  <a:srgbClr val="416F51"/>
                </a:solidFill>
                <a:latin typeface="Arial"/>
                <a:ea typeface="Arial"/>
                <a:cs typeface="Arial"/>
              </a:defRPr>
            </a:pPr>
            <a:r>
              <a:rPr sz="2100" b="0">
                <a:solidFill>
                  <a:srgbClr val="416F51"/>
                </a:solidFill>
                <a:latin typeface="Arial"/>
                <a:ea typeface="Arial"/>
                <a:cs typeface="Arial"/>
              </a:rPr>
              <a:t>Weaker pressure to use SWA</a:t>
            </a:r>
          </a:p>
        </p:txBody>
      </p:sp>
      <p:sp>
        <p:nvSpPr>
          <p:cNvPr id="10" name="NLL and branch disagreement are training signals. Inference uses">
            <a:extLst xmlns:a="http://schemas.openxmlformats.org/drawingml/2006/main">
              <a:ext uri="{FF2B5EF4-FFF2-40B4-BE49-F238E27FC236}">
                <a16:creationId xmlns:a16="http://schemas.microsoft.com/office/drawing/2014/main" id="{9D99D959-1FBA-40EF-BAF8-279EA9BEDA10}"/>
              </a:ext>
            </a:extLst>
          </p:cNvPr>
          <p:cNvSpPr>
            <a:spLocks xmlns:a="http://schemas.openxmlformats.org/drawingml/2006/main" noGrp="1"/>
          </p:cNvSpPr>
          <p:nvPr/>
        </p:nvSpPr>
        <p:spPr>
          <a:xfrm xmlns:a="http://schemas.openxmlformats.org/drawingml/2006/main">
            <a:off x="609600" y="57150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NLL and branch disagreement are training signals. Inference uses only R(h).</a:t>
            </a:r>
          </a:p>
        </p:txBody>
      </p:sp>
    </p:spTree>
    <p:extLst>
      <p:ext uri="{BB962C8B-B14F-4D97-AF65-F5344CB8AC3E}">
        <p14:creationId xmlns:p14="http://schemas.microsoft.com/office/powerpoint/2010/main" val="101102203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inual pretraining converts a full-attention model">
            <a:extLst xmlns:a="http://schemas.openxmlformats.org/drawingml/2006/main">
              <a:ext uri="{FF2B5EF4-FFF2-40B4-BE49-F238E27FC236}">
                <a16:creationId xmlns:a16="http://schemas.microsoft.com/office/drawing/2014/main" id="{A17E7849-92B2-4512-AD74-AA738D3C6EF9}"/>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Continual pretraining converts a full-attention model</a:t>
            </a:r>
          </a:p>
        </p:txBody>
      </p:sp>
      <p:pic>
        <p:nvPicPr>
          <p:cNvPr id="2" name="">
            <a:extLst xmlns:a="http://schemas.openxmlformats.org/drawingml/2006/main">
              <a:ext uri="{FF2B5EF4-FFF2-40B4-BE49-F238E27FC236}">
                <a16:creationId xmlns:a16="http://schemas.microsoft.com/office/drawing/2014/main" id="{F9EE1825-4466-4C77-92C3-ED3FD43DDF86}"/>
              </a:ext>
            </a:extLst>
          </p:cNvPr>
          <p:cNvPicPr>
            <a:picLocks xmlns:a="http://schemas.openxmlformats.org/drawingml/2006/main" noChangeAspect="1"/>
          </p:cNvPicPr>
          <p:nvPr/>
        </p:nvPicPr>
        <p:blipFill>
          <a:blip xmlns:r="http://schemas.openxmlformats.org/officeDocument/2006/relationships" xmlns:a="http://schemas.openxmlformats.org/drawingml/2006/main" r:embed="Rdd56684e760b406e"/>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6">
            <a:extLst xmlns:a="http://schemas.openxmlformats.org/drawingml/2006/main">
              <a:ext uri="{FF2B5EF4-FFF2-40B4-BE49-F238E27FC236}">
                <a16:creationId xmlns:a16="http://schemas.microsoft.com/office/drawing/2014/main" id="{A11BC125-BDBF-49AD-9922-6322AC465097}"/>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C03DF4E9-A93B-4433-BDFA-89A483615B88}"/>
              </a:ext>
            </a:extLst>
          </p:cNvPr>
          <p:cNvPicPr>
            <a:picLocks xmlns:a="http://schemas.openxmlformats.org/drawingml/2006/main" noChangeAspect="1"/>
          </p:cNvPicPr>
          <p:nvPr/>
        </p:nvPicPr>
        <p:blipFill>
          <a:blip xmlns:r="http://schemas.openxmlformats.org/officeDocument/2006/relationships" xmlns:a="http://schemas.openxmlformats.org/drawingml/2006/main" r:embed="R3624bfa493ae4180"/>
          <a:stretch xmlns:a="http://schemas.openxmlformats.org/drawingml/2006/main"/>
        </p:blipFill>
        <p:spPr>
          <a:xfrm xmlns:a="http://schemas.openxmlformats.org/drawingml/2006/main">
            <a:off x="609600" y="1954244"/>
            <a:ext cx="5657850" cy="3149537"/>
          </a:xfrm>
          <a:prstGeom xmlns:a="http://schemas.openxmlformats.org/drawingml/2006/main" prst="rect">
            <a:avLst/>
          </a:prstGeom>
        </p:spPr>
      </p:pic>
      <p:sp>
        <p:nvSpPr>
          <p:cNvPr id="5" name="Train both branches with STE">
            <a:extLst xmlns:a="http://schemas.openxmlformats.org/drawingml/2006/main">
              <a:ext uri="{FF2B5EF4-FFF2-40B4-BE49-F238E27FC236}">
                <a16:creationId xmlns:a16="http://schemas.microsoft.com/office/drawing/2014/main" id="{1088A128-FA14-416B-A330-543935F8B916}"/>
              </a:ext>
            </a:extLst>
          </p:cNvPr>
          <p:cNvSpPr>
            <a:spLocks xmlns:a="http://schemas.openxmlformats.org/drawingml/2006/main" noGrp="1"/>
          </p:cNvSpPr>
          <p:nvPr/>
        </p:nvSpPr>
        <p:spPr>
          <a:xfrm xmlns:a="http://schemas.openxmlformats.org/drawingml/2006/main">
            <a:off x="6705600" y="1619250"/>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92F43"/>
                </a:solidFill>
                <a:latin typeface="Arial"/>
                <a:ea typeface="Arial"/>
                <a:cs typeface="Arial"/>
              </a:defRPr>
            </a:defPPr>
          </a:lstStyle>
          <a:p xmlns:a="http://schemas.openxmlformats.org/drawingml/2006/main">
            <a:pPr algn="l">
              <a:defRPr sz="2175" b="1">
                <a:solidFill>
                  <a:srgbClr val="292F43"/>
                </a:solidFill>
                <a:latin typeface="Arial"/>
                <a:ea typeface="Arial"/>
                <a:cs typeface="Arial"/>
              </a:defRPr>
            </a:pPr>
            <a:r>
              <a:rPr sz="2175" b="1">
                <a:solidFill>
                  <a:srgbClr val="292F43"/>
                </a:solidFill>
                <a:latin typeface="Arial"/>
                <a:ea typeface="Arial"/>
                <a:cs typeface="Arial"/>
              </a:rPr>
              <a:t>Train both branches with STE</a:t>
            </a:r>
          </a:p>
        </p:txBody>
      </p:sp>
      <p:sp>
        <p:nvSpPr>
          <p:cNvPr id="6" name="Initialize from a pretrained model&#10;Update the whole hybrid model">
            <a:extLst xmlns:a="http://schemas.openxmlformats.org/drawingml/2006/main">
              <a:ext uri="{FF2B5EF4-FFF2-40B4-BE49-F238E27FC236}">
                <a16:creationId xmlns:a16="http://schemas.microsoft.com/office/drawing/2014/main" id="{46183237-8AFE-47E6-AB7D-000B6F149616}"/>
              </a:ext>
            </a:extLst>
          </p:cNvPr>
          <p:cNvSpPr>
            <a:spLocks xmlns:a="http://schemas.openxmlformats.org/drawingml/2006/main" noGrp="1"/>
          </p:cNvSpPr>
          <p:nvPr/>
        </p:nvSpPr>
        <p:spPr>
          <a:xfrm xmlns:a="http://schemas.openxmlformats.org/drawingml/2006/main">
            <a:off x="6705600" y="2257425"/>
            <a:ext cx="4857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80"/>
                </a:solidFill>
                <a:latin typeface="Arial"/>
                <a:ea typeface="Arial"/>
                <a:cs typeface="Arial"/>
              </a:defRPr>
            </a:defPPr>
          </a:lstStyle>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Initialize from a pretrained model</a:t>
            </a:r>
          </a:p>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Update the whole hybrid model</a:t>
            </a:r>
          </a:p>
        </p:txBody>
      </p:sp>
      <p:graphicFrame>
        <p:nvGraphicFramePr>
          <p:cNvPr id="7" name="">
            <a:extLst xmlns:a="http://schemas.openxmlformats.org/drawingml/2006/main">
              <a:ext uri="{FF2B5EF4-FFF2-40B4-BE49-F238E27FC236}">
                <a16:creationId xmlns:a16="http://schemas.microsoft.com/office/drawing/2014/main" id="{40150F9C-DE5A-4850-B8FE-CC70AC9772C7}"/>
              </a:ext>
            </a:extLst>
          </p:cNvPr>
          <p:cNvGraphicFramePr/>
          <p:nvPr/>
        </p:nvGraphicFramePr>
        <p:xfrm>
          <a:off xmlns:a="http://schemas.openxmlformats.org/drawingml/2006/main" x="6705600" y="3333750"/>
          <a:ext xmlns:a="http://schemas.openxmlformats.org/drawingml/2006/main" cx="4857750" cy="1924050"/>
        </p:xfrm>
        <a:graphic xmlns:a="http://schemas.openxmlformats.org/drawingml/2006/main">
          <a:graphicData uri="http://schemas.openxmlformats.org/drawingml/2006/table">
            <a:tbl>
              <a:tblPr/>
              <a:tblGrid>
                <a:gridCol w="2095500"/>
                <a:gridCol w="2762250"/>
              </a:tblGrid>
              <a:tr h="641350">
                <a:tc>
                  <a:txBody>
                    <a:bodyPr/>
                    <a:lstStyle/>
                    <a:p>
                      <a:pPr algn="l"/>
                      <a:r>
                        <a:rPr sz="1950" b="1">
                          <a:solidFill>
                            <a:srgbClr val="FFFFFF"/>
                          </a:solidFill>
                          <a:latin typeface="Arial"/>
                          <a:ea typeface="Arial"/>
                          <a:cs typeface="Arial"/>
                        </a:rPr>
                        <a:t>Context</a:t>
                      </a:r>
                    </a:p>
                  </a:txBody>
                  <a:tcPr marL="133350" marR="114300" marT="114300" marB="114300" anchor="ctr">
                    <a:solidFill>
                      <a:srgbClr val="292F43"/>
                    </a:solidFill>
                  </a:tcPr>
                </a:tc>
                <a:tc>
                  <a:txBody>
                    <a:bodyPr/>
                    <a:lstStyle/>
                    <a:p>
                      <a:pPr algn="ctr"/>
                      <a:r>
                        <a:rPr sz="1950" b="1">
                          <a:solidFill>
                            <a:srgbClr val="FFFFFF"/>
                          </a:solidFill>
                          <a:latin typeface="Arial"/>
                          <a:ea typeface="Arial"/>
                          <a:cs typeface="Arial"/>
                        </a:rPr>
                        <a:t>Added CPT tokens</a:t>
                      </a:r>
                    </a:p>
                  </a:txBody>
                  <a:tcPr marL="133350" marR="114300" marT="114300" marB="114300" anchor="ctr">
                    <a:solidFill>
                      <a:srgbClr val="292F43"/>
                    </a:solidFill>
                  </a:tcPr>
                </a:tc>
              </a:tr>
              <a:tr h="641350">
                <a:tc>
                  <a:txBody>
                    <a:bodyPr/>
                    <a:lstStyle/>
                    <a:p>
                      <a:pPr algn="l"/>
                      <a:r>
                        <a:rPr sz="1950" b="0">
                          <a:solidFill>
                            <a:srgbClr val="292F43"/>
                          </a:solidFill>
                          <a:latin typeface="Arial"/>
                          <a:ea typeface="Arial"/>
                          <a:cs typeface="Arial"/>
                        </a:rPr>
                        <a:t>4K</a:t>
                      </a:r>
                    </a:p>
                  </a:txBody>
                  <a:tcPr marL="133350" marR="114300" marT="114300" marB="114300" anchor="ctr">
                    <a:solidFill>
                      <a:srgbClr val="FFFFFF"/>
                    </a:solidFill>
                  </a:tcPr>
                </a:tc>
                <a:tc>
                  <a:txBody>
                    <a:bodyPr/>
                    <a:lstStyle/>
                    <a:p>
                      <a:pPr algn="ctr"/>
                      <a:r>
                        <a:rPr sz="1950" b="0">
                          <a:solidFill>
                            <a:srgbClr val="292F43"/>
                          </a:solidFill>
                          <a:latin typeface="Arial"/>
                          <a:ea typeface="Arial"/>
                          <a:cs typeface="Arial"/>
                        </a:rPr>
                        <a:t>20B</a:t>
                      </a:r>
                    </a:p>
                  </a:txBody>
                  <a:tcPr marL="133350" marR="114300" marT="114300" marB="114300" anchor="ctr">
                    <a:solidFill>
                      <a:srgbClr val="FFFFFF"/>
                    </a:solidFill>
                  </a:tcPr>
                </a:tc>
              </a:tr>
              <a:tr h="641350">
                <a:tc>
                  <a:txBody>
                    <a:bodyPr/>
                    <a:lstStyle/>
                    <a:p>
                      <a:pPr algn="l"/>
                      <a:r>
                        <a:rPr sz="1950" b="0">
                          <a:solidFill>
                            <a:srgbClr val="292F43"/>
                          </a:solidFill>
                          <a:latin typeface="Arial"/>
                          <a:ea typeface="Arial"/>
                          <a:cs typeface="Arial"/>
                        </a:rPr>
                        <a:t>32K</a:t>
                      </a:r>
                    </a:p>
                  </a:txBody>
                  <a:tcPr marL="133350" marR="114300" marT="114300" marB="114300" anchor="ctr">
                    <a:solidFill>
                      <a:srgbClr val="FFFFFF"/>
                    </a:solidFill>
                  </a:tcPr>
                </a:tc>
                <a:tc>
                  <a:txBody>
                    <a:bodyPr/>
                    <a:lstStyle/>
                    <a:p>
                      <a:pPr algn="ctr"/>
                      <a:r>
                        <a:rPr sz="1950" b="0">
                          <a:solidFill>
                            <a:srgbClr val="292F43"/>
                          </a:solidFill>
                          <a:latin typeface="Arial"/>
                          <a:ea typeface="Arial"/>
                          <a:cs typeface="Arial"/>
                        </a:rPr>
                        <a:t>8B</a:t>
                      </a:r>
                    </a:p>
                  </a:txBody>
                  <a:tcPr marL="133350" marR="114300" marT="114300" marB="114300" anchor="ctr">
                    <a:solidFill>
                      <a:srgbClr val="FFFFFF"/>
                    </a:solidFill>
                  </a:tcPr>
                </a:tc>
              </a:tr>
            </a:tbl>
          </a:graphicData>
        </a:graphic>
      </p:graphicFrame>
      <p:sp>
        <p:nvSpPr>
          <p:cNvPr id="8" name="1.5B model    22 layers    1,024-token window    23 benchmark da">
            <a:extLst xmlns:a="http://schemas.openxmlformats.org/drawingml/2006/main">
              <a:ext uri="{FF2B5EF4-FFF2-40B4-BE49-F238E27FC236}">
                <a16:creationId xmlns:a16="http://schemas.microsoft.com/office/drawing/2014/main" id="{69E9D0E1-C8A4-405E-AD06-09A41C903564}"/>
              </a:ext>
            </a:extLst>
          </p:cNvPr>
          <p:cNvSpPr>
            <a:spLocks xmlns:a="http://schemas.openxmlformats.org/drawingml/2006/main" noGrp="1"/>
          </p:cNvSpPr>
          <p:nvPr/>
        </p:nvSpPr>
        <p:spPr>
          <a:xfrm xmlns:a="http://schemas.openxmlformats.org/drawingml/2006/main">
            <a:off x="609600" y="57531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92F43"/>
                </a:solidFill>
                <a:latin typeface="Arial"/>
                <a:ea typeface="Arial"/>
                <a:cs typeface="Arial"/>
              </a:defRPr>
            </a:defPPr>
          </a:lstStyle>
          <a:p xmlns:a="http://schemas.openxmlformats.org/drawingml/2006/main">
            <a:pPr algn="l">
              <a:defRPr sz="1950" b="0">
                <a:solidFill>
                  <a:srgbClr val="292F43"/>
                </a:solidFill>
                <a:latin typeface="Arial"/>
                <a:ea typeface="Arial"/>
                <a:cs typeface="Arial"/>
              </a:defRPr>
            </a:pPr>
            <a:r>
              <a:rPr sz="1950" b="0">
                <a:solidFill>
                  <a:srgbClr val="292F43"/>
                </a:solidFill>
                <a:latin typeface="Arial"/>
                <a:ea typeface="Arial"/>
                <a:cs typeface="Arial"/>
              </a:rPr>
              <a:t>1.5B model    22 layers    1,024-token window    23 benchmark datasets</a:t>
            </a:r>
          </a:p>
        </p:txBody>
      </p:sp>
    </p:spTree>
    <p:extLst>
      <p:ext uri="{BB962C8B-B14F-4D97-AF65-F5344CB8AC3E}">
        <p14:creationId xmlns:p14="http://schemas.microsoft.com/office/powerpoint/2010/main" val="2551982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wiAttn matches FullAttn on in-context retrieval">
            <a:extLst xmlns:a="http://schemas.openxmlformats.org/drawingml/2006/main">
              <a:ext uri="{FF2B5EF4-FFF2-40B4-BE49-F238E27FC236}">
                <a16:creationId xmlns:a16="http://schemas.microsoft.com/office/drawing/2014/main" id="{DF4F2899-01A2-49BC-ADC6-0949E4971BDF}"/>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SwiAttn matches FullAttn on in-context retrieval</a:t>
            </a:r>
          </a:p>
        </p:txBody>
      </p:sp>
      <p:pic>
        <p:nvPicPr>
          <p:cNvPr id="2" name="">
            <a:extLst xmlns:a="http://schemas.openxmlformats.org/drawingml/2006/main">
              <a:ext uri="{FF2B5EF4-FFF2-40B4-BE49-F238E27FC236}">
                <a16:creationId xmlns:a16="http://schemas.microsoft.com/office/drawing/2014/main" id="{EA3A6F73-661F-4207-9826-5AA6E5FD9607}"/>
              </a:ext>
            </a:extLst>
          </p:cNvPr>
          <p:cNvPicPr>
            <a:picLocks xmlns:a="http://schemas.openxmlformats.org/drawingml/2006/main" noChangeAspect="1"/>
          </p:cNvPicPr>
          <p:nvPr/>
        </p:nvPicPr>
        <p:blipFill>
          <a:blip xmlns:r="http://schemas.openxmlformats.org/officeDocument/2006/relationships" xmlns:a="http://schemas.openxmlformats.org/drawingml/2006/main" r:embed="R3d6d8ec9f1a44cac"/>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7">
            <a:extLst xmlns:a="http://schemas.openxmlformats.org/drawingml/2006/main">
              <a:ext uri="{FF2B5EF4-FFF2-40B4-BE49-F238E27FC236}">
                <a16:creationId xmlns:a16="http://schemas.microsoft.com/office/drawing/2014/main" id="{E05CC853-1D64-4099-AE39-EE1521321984}"/>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07</a:t>
            </a:r>
          </a:p>
        </p:txBody>
      </p:sp>
      <p:sp>
        <p:nvSpPr>
          <p:cNvPr id="4" name="Average score across 6 datasets, up to 4K context">
            <a:extLst xmlns:a="http://schemas.openxmlformats.org/drawingml/2006/main">
              <a:ext uri="{FF2B5EF4-FFF2-40B4-BE49-F238E27FC236}">
                <a16:creationId xmlns:a16="http://schemas.microsoft.com/office/drawing/2014/main" id="{679A90E4-ACC9-4A1C-8FD6-447A717B2A1D}"/>
              </a:ext>
            </a:extLst>
          </p:cNvPr>
          <p:cNvSpPr>
            <a:spLocks xmlns:a="http://schemas.openxmlformats.org/drawingml/2006/main" noGrp="1"/>
          </p:cNvSpPr>
          <p:nvPr/>
        </p:nvSpPr>
        <p:spPr>
          <a:xfrm xmlns:a="http://schemas.openxmlformats.org/drawingml/2006/main">
            <a:off x="609600" y="1333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Average score across 6 datasets, up to 4K context</a:t>
            </a:r>
          </a:p>
        </p:txBody>
      </p:sp>
      <p:graphicFrame>
        <p:nvGraphicFramePr>
          <p:cNvPr id="5" name="Chart">
            <a:extLst xmlns:a="http://schemas.openxmlformats.org/drawingml/2006/main">
              <a:ext uri="{FF2B5EF4-FFF2-40B4-BE49-F238E27FC236}">
                <a16:creationId xmlns:a16="http://schemas.microsoft.com/office/drawing/2014/main" id="{DE0CCD94-644A-4BA2-A967-562879074412}"/>
              </a:ext>
            </a:extLst>
          </p:cNvPr>
          <p:cNvGraphicFramePr/>
          <p:nvPr/>
        </p:nvGraphicFramePr>
        <p:xfrm>
          <a:off xmlns:a="http://schemas.openxmlformats.org/drawingml/2006/main" x="590550" y="1685925"/>
          <a:ext xmlns:a="http://schemas.openxmlformats.org/drawingml/2006/main" cx="10763250" cy="3705225"/>
        </p:xfrm>
        <a:graphic xmlns:a="http://schemas.openxmlformats.org/drawingml/2006/main">
          <a:graphicData uri="http://schemas.openxmlformats.org/drawingml/2006/chart">
            <c:chart xmlns:r="http://schemas.openxmlformats.org/officeDocument/2006/relationships" xmlns:c="http://schemas.openxmlformats.org/drawingml/2006/chart" r:id="R4cdcfd969c5d4e32"/>
          </a:graphicData>
        </a:graphic>
      </p:graphicFrame>
      <p:sp>
        <p:nvSpPr>
          <p:cNvPr id="6" name="+2.3 points over the static hybrid">
            <a:extLst xmlns:a="http://schemas.openxmlformats.org/drawingml/2006/main">
              <a:ext uri="{FF2B5EF4-FFF2-40B4-BE49-F238E27FC236}">
                <a16:creationId xmlns:a16="http://schemas.microsoft.com/office/drawing/2014/main" id="{479238D1-1DCA-4F00-815B-8E5D4E6128D4}"/>
              </a:ext>
            </a:extLst>
          </p:cNvPr>
          <p:cNvSpPr>
            <a:spLocks xmlns:a="http://schemas.openxmlformats.org/drawingml/2006/main" noGrp="1"/>
          </p:cNvSpPr>
          <p:nvPr/>
        </p:nvSpPr>
        <p:spPr>
          <a:xfrm xmlns:a="http://schemas.openxmlformats.org/drawingml/2006/main">
            <a:off x="609600" y="56769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416F51"/>
                </a:solidFill>
                <a:latin typeface="Arial"/>
                <a:ea typeface="Arial"/>
                <a:cs typeface="Arial"/>
              </a:defRPr>
            </a:defPPr>
          </a:lstStyle>
          <a:p xmlns:a="http://schemas.openxmlformats.org/drawingml/2006/main">
            <a:pPr algn="l">
              <a:defRPr sz="2475" b="1">
                <a:solidFill>
                  <a:srgbClr val="416F51"/>
                </a:solidFill>
                <a:latin typeface="Arial"/>
                <a:ea typeface="Arial"/>
                <a:cs typeface="Arial"/>
              </a:defRPr>
            </a:pPr>
            <a:r>
              <a:rPr sz="2475" b="1">
                <a:solidFill>
                  <a:srgbClr val="416F51"/>
                </a:solidFill>
                <a:latin typeface="Arial"/>
                <a:ea typeface="Arial"/>
                <a:cs typeface="Arial"/>
              </a:rPr>
              <a:t>+2.3 points over the static hybrid</a:t>
            </a:r>
          </a:p>
        </p:txBody>
      </p:sp>
    </p:spTree>
    <p:extLst>
      <p:ext uri="{BB962C8B-B14F-4D97-AF65-F5344CB8AC3E}">
        <p14:creationId xmlns:p14="http://schemas.microsoft.com/office/powerpoint/2010/main" val="30213485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same LongBench-E average with dynamic routing">
            <a:extLst xmlns:a="http://schemas.openxmlformats.org/drawingml/2006/main">
              <a:ext uri="{FF2B5EF4-FFF2-40B4-BE49-F238E27FC236}">
                <a16:creationId xmlns:a16="http://schemas.microsoft.com/office/drawing/2014/main" id="{A3678CF4-9CF3-4639-8AEA-EEBE06B5A2AB}"/>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The same LongBench-E average with dynamic routing</a:t>
            </a:r>
          </a:p>
        </p:txBody>
      </p:sp>
      <p:pic>
        <p:nvPicPr>
          <p:cNvPr id="2" name="">
            <a:extLst xmlns:a="http://schemas.openxmlformats.org/drawingml/2006/main">
              <a:ext uri="{FF2B5EF4-FFF2-40B4-BE49-F238E27FC236}">
                <a16:creationId xmlns:a16="http://schemas.microsoft.com/office/drawing/2014/main" id="{44FA0726-8147-4524-B632-CCE2A326EBA1}"/>
              </a:ext>
            </a:extLst>
          </p:cNvPr>
          <p:cNvPicPr>
            <a:picLocks xmlns:a="http://schemas.openxmlformats.org/drawingml/2006/main" noChangeAspect="1"/>
          </p:cNvPicPr>
          <p:nvPr/>
        </p:nvPicPr>
        <p:blipFill>
          <a:blip xmlns:r="http://schemas.openxmlformats.org/officeDocument/2006/relationships" xmlns:a="http://schemas.openxmlformats.org/drawingml/2006/main" r:embed="Rf98db9b58ac644b4"/>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8">
            <a:extLst xmlns:a="http://schemas.openxmlformats.org/drawingml/2006/main">
              <a:ext uri="{FF2B5EF4-FFF2-40B4-BE49-F238E27FC236}">
                <a16:creationId xmlns:a16="http://schemas.microsoft.com/office/drawing/2014/main" id="{25099594-BCA0-4ADD-B202-CAA29E99FB51}"/>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08</a:t>
            </a:r>
          </a:p>
        </p:txBody>
      </p:sp>
      <p:sp>
        <p:nvSpPr>
          <p:cNvPr id="4" name="Average score across 7 datasets, up to 32K context">
            <a:extLst xmlns:a="http://schemas.openxmlformats.org/drawingml/2006/main">
              <a:ext uri="{FF2B5EF4-FFF2-40B4-BE49-F238E27FC236}">
                <a16:creationId xmlns:a16="http://schemas.microsoft.com/office/drawing/2014/main" id="{9176C5B5-2EEA-4BBC-ABE8-87F834C8345C}"/>
              </a:ext>
            </a:extLst>
          </p:cNvPr>
          <p:cNvSpPr>
            <a:spLocks xmlns:a="http://schemas.openxmlformats.org/drawingml/2006/main" noGrp="1"/>
          </p:cNvSpPr>
          <p:nvPr/>
        </p:nvSpPr>
        <p:spPr>
          <a:xfrm xmlns:a="http://schemas.openxmlformats.org/drawingml/2006/main">
            <a:off x="609600" y="1333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Average score across 7 datasets, up to 32K context</a:t>
            </a:r>
          </a:p>
        </p:txBody>
      </p:sp>
      <p:graphicFrame>
        <p:nvGraphicFramePr>
          <p:cNvPr id="5" name="Chart">
            <a:extLst xmlns:a="http://schemas.openxmlformats.org/drawingml/2006/main">
              <a:ext uri="{FF2B5EF4-FFF2-40B4-BE49-F238E27FC236}">
                <a16:creationId xmlns:a16="http://schemas.microsoft.com/office/drawing/2014/main" id="{44140EA2-FE77-4AED-9FE1-6E33D04FA982}"/>
              </a:ext>
            </a:extLst>
          </p:cNvPr>
          <p:cNvGraphicFramePr/>
          <p:nvPr/>
        </p:nvGraphicFramePr>
        <p:xfrm>
          <a:off xmlns:a="http://schemas.openxmlformats.org/drawingml/2006/main" x="590550" y="1685925"/>
          <a:ext xmlns:a="http://schemas.openxmlformats.org/drawingml/2006/main" cx="10763250" cy="3705225"/>
        </p:xfrm>
        <a:graphic xmlns:a="http://schemas.openxmlformats.org/drawingml/2006/main">
          <a:graphicData uri="http://schemas.openxmlformats.org/drawingml/2006/chart">
            <c:chart xmlns:r="http://schemas.openxmlformats.org/officeDocument/2006/relationships" xmlns:c="http://schemas.openxmlformats.org/drawingml/2006/chart" r:id="R3e6d2e303185431f"/>
          </a:graphicData>
        </a:graphic>
      </p:graphicFrame>
      <p:sp>
        <p:nvSpPr>
          <p:cNvPr id="6" name="+2.2 points over SH (3:1)">
            <a:extLst xmlns:a="http://schemas.openxmlformats.org/drawingml/2006/main">
              <a:ext uri="{FF2B5EF4-FFF2-40B4-BE49-F238E27FC236}">
                <a16:creationId xmlns:a16="http://schemas.microsoft.com/office/drawing/2014/main" id="{14C7E778-9F18-428F-98BC-8F7337BA76D5}"/>
              </a:ext>
            </a:extLst>
          </p:cNvPr>
          <p:cNvSpPr>
            <a:spLocks xmlns:a="http://schemas.openxmlformats.org/drawingml/2006/main" noGrp="1"/>
          </p:cNvSpPr>
          <p:nvPr/>
        </p:nvSpPr>
        <p:spPr>
          <a:xfrm xmlns:a="http://schemas.openxmlformats.org/drawingml/2006/main">
            <a:off x="609600" y="56769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416F51"/>
                </a:solidFill>
                <a:latin typeface="Arial"/>
                <a:ea typeface="Arial"/>
                <a:cs typeface="Arial"/>
              </a:defRPr>
            </a:defPPr>
          </a:lstStyle>
          <a:p xmlns:a="http://schemas.openxmlformats.org/drawingml/2006/main">
            <a:pPr algn="l">
              <a:defRPr sz="2475" b="1">
                <a:solidFill>
                  <a:srgbClr val="416F51"/>
                </a:solidFill>
                <a:latin typeface="Arial"/>
                <a:ea typeface="Arial"/>
                <a:cs typeface="Arial"/>
              </a:defRPr>
            </a:pPr>
            <a:r>
              <a:rPr sz="2475" b="1">
                <a:solidFill>
                  <a:srgbClr val="416F51"/>
                </a:solidFill>
                <a:latin typeface="Arial"/>
                <a:ea typeface="Arial"/>
                <a:cs typeface="Arial"/>
              </a:rPr>
              <a:t>+2.2 points over SH (3:1)</a:t>
            </a:r>
          </a:p>
        </p:txBody>
      </p:sp>
    </p:spTree>
    <p:extLst>
      <p:ext uri="{BB962C8B-B14F-4D97-AF65-F5344CB8AC3E}">
        <p14:creationId xmlns:p14="http://schemas.microsoft.com/office/powerpoint/2010/main" val="57441906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outing responds to where the needed information is">
            <a:extLst xmlns:a="http://schemas.openxmlformats.org/drawingml/2006/main">
              <a:ext uri="{FF2B5EF4-FFF2-40B4-BE49-F238E27FC236}">
                <a16:creationId xmlns:a16="http://schemas.microsoft.com/office/drawing/2014/main" id="{12B9D35F-825E-4CF4-AA25-0A8B63BE08E3}"/>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Routing responds to where the needed information is</a:t>
            </a:r>
          </a:p>
        </p:txBody>
      </p:sp>
      <p:pic>
        <p:nvPicPr>
          <p:cNvPr id="2" name="">
            <a:extLst xmlns:a="http://schemas.openxmlformats.org/drawingml/2006/main">
              <a:ext uri="{FF2B5EF4-FFF2-40B4-BE49-F238E27FC236}">
                <a16:creationId xmlns:a16="http://schemas.microsoft.com/office/drawing/2014/main" id="{EA7A5F40-2BA4-49F0-9EBA-E3AD0150FB63}"/>
              </a:ext>
            </a:extLst>
          </p:cNvPr>
          <p:cNvPicPr>
            <a:picLocks xmlns:a="http://schemas.openxmlformats.org/drawingml/2006/main" noChangeAspect="1"/>
          </p:cNvPicPr>
          <p:nvPr/>
        </p:nvPicPr>
        <p:blipFill>
          <a:blip xmlns:r="http://schemas.openxmlformats.org/officeDocument/2006/relationships" xmlns:a="http://schemas.openxmlformats.org/drawingml/2006/main" r:embed="Rce7aa313bd66493b"/>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9">
            <a:extLst xmlns:a="http://schemas.openxmlformats.org/drawingml/2006/main">
              <a:ext uri="{FF2B5EF4-FFF2-40B4-BE49-F238E27FC236}">
                <a16:creationId xmlns:a16="http://schemas.microsoft.com/office/drawing/2014/main" id="{2C1ABFE0-EF74-4CC9-B326-AD857F351BF4}"/>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63E0157D-17C6-473F-BD9D-B3C698901B06}"/>
              </a:ext>
            </a:extLst>
          </p:cNvPr>
          <p:cNvPicPr>
            <a:picLocks xmlns:a="http://schemas.openxmlformats.org/drawingml/2006/main" noChangeAspect="1"/>
          </p:cNvPicPr>
          <p:nvPr/>
        </p:nvPicPr>
        <p:blipFill>
          <a:blip xmlns:r="http://schemas.openxmlformats.org/officeDocument/2006/relationships" xmlns:a="http://schemas.openxmlformats.org/drawingml/2006/main" r:embed="R8d672845799444a1"/>
          <a:stretch xmlns:a="http://schemas.openxmlformats.org/drawingml/2006/main"/>
        </p:blipFill>
        <p:spPr>
          <a:xfrm xmlns:a="http://schemas.openxmlformats.org/drawingml/2006/main">
            <a:off x="609600" y="2031185"/>
            <a:ext cx="7372350" cy="3519531"/>
          </a:xfrm>
          <a:prstGeom xmlns:a="http://schemas.openxmlformats.org/drawingml/2006/main" prst="rect">
            <a:avLst/>
          </a:prstGeom>
        </p:spPr>
      </p:pic>
      <p:sp>
        <p:nvSpPr>
          <p:cNvPr id="5" name="~30%">
            <a:extLst xmlns:a="http://schemas.openxmlformats.org/drawingml/2006/main">
              <a:ext uri="{FF2B5EF4-FFF2-40B4-BE49-F238E27FC236}">
                <a16:creationId xmlns:a16="http://schemas.microsoft.com/office/drawing/2014/main" id="{157FF1C6-4CF0-4BF6-ACFE-89F84AA94FF2}"/>
              </a:ext>
            </a:extLst>
          </p:cNvPr>
          <p:cNvSpPr>
            <a:spLocks xmlns:a="http://schemas.openxmlformats.org/drawingml/2006/main" noGrp="1"/>
          </p:cNvSpPr>
          <p:nvPr/>
        </p:nvSpPr>
        <p:spPr>
          <a:xfrm xmlns:a="http://schemas.openxmlformats.org/drawingml/2006/main">
            <a:off x="8610600" y="1800225"/>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292F43"/>
                </a:solidFill>
                <a:latin typeface="Arial"/>
                <a:ea typeface="Arial"/>
                <a:cs typeface="Arial"/>
              </a:defRPr>
            </a:defPPr>
          </a:lstStyle>
          <a:p xmlns:a="http://schemas.openxmlformats.org/drawingml/2006/main">
            <a:pPr algn="l">
              <a:defRPr sz="4500" b="1">
                <a:solidFill>
                  <a:srgbClr val="292F43"/>
                </a:solidFill>
                <a:latin typeface="Arial"/>
                <a:ea typeface="Arial"/>
                <a:cs typeface="Arial"/>
              </a:defRPr>
            </a:pPr>
            <a:r>
              <a:rPr sz="4500" b="1">
                <a:solidFill>
                  <a:srgbClr val="292F43"/>
                </a:solidFill>
                <a:latin typeface="Arial"/>
                <a:ea typeface="Arial"/>
                <a:cs typeface="Arial"/>
              </a:rPr>
              <a:t>~30%</a:t>
            </a:r>
          </a:p>
        </p:txBody>
      </p:sp>
      <p:sp>
        <p:nvSpPr>
          <p:cNvPr id="6" name="Full attention when the&#10;needle is outside the window">
            <a:extLst xmlns:a="http://schemas.openxmlformats.org/drawingml/2006/main">
              <a:ext uri="{FF2B5EF4-FFF2-40B4-BE49-F238E27FC236}">
                <a16:creationId xmlns:a16="http://schemas.microsoft.com/office/drawing/2014/main" id="{812A98F9-1E1F-4BA9-B9AE-448B94858137}"/>
              </a:ext>
            </a:extLst>
          </p:cNvPr>
          <p:cNvSpPr>
            <a:spLocks xmlns:a="http://schemas.openxmlformats.org/drawingml/2006/main" noGrp="1"/>
          </p:cNvSpPr>
          <p:nvPr/>
        </p:nvSpPr>
        <p:spPr>
          <a:xfrm xmlns:a="http://schemas.openxmlformats.org/drawingml/2006/main">
            <a:off x="8610600" y="2695575"/>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47080"/>
                </a:solidFill>
                <a:latin typeface="Arial"/>
                <a:ea typeface="Arial"/>
                <a:cs typeface="Arial"/>
              </a:defRPr>
            </a:defPPr>
          </a:lstStyle>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Full attention when the</a:t>
            </a:r>
          </a:p>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needle is outside the window</a:t>
            </a:r>
          </a:p>
        </p:txBody>
      </p:sp>
      <p:sp>
        <p:nvSpPr>
          <p:cNvPr id="7" name="~5%">
            <a:extLst xmlns:a="http://schemas.openxmlformats.org/drawingml/2006/main">
              <a:ext uri="{FF2B5EF4-FFF2-40B4-BE49-F238E27FC236}">
                <a16:creationId xmlns:a16="http://schemas.microsoft.com/office/drawing/2014/main" id="{D39EE880-091C-4A9C-9CDE-B31DF7A58D31}"/>
              </a:ext>
            </a:extLst>
          </p:cNvPr>
          <p:cNvSpPr>
            <a:spLocks xmlns:a="http://schemas.openxmlformats.org/drawingml/2006/main" noGrp="1"/>
          </p:cNvSpPr>
          <p:nvPr/>
        </p:nvSpPr>
        <p:spPr>
          <a:xfrm xmlns:a="http://schemas.openxmlformats.org/drawingml/2006/main">
            <a:off x="8610600" y="3933825"/>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416F51"/>
                </a:solidFill>
                <a:latin typeface="Arial"/>
                <a:ea typeface="Arial"/>
                <a:cs typeface="Arial"/>
              </a:defRPr>
            </a:defPPr>
          </a:lstStyle>
          <a:p xmlns:a="http://schemas.openxmlformats.org/drawingml/2006/main">
            <a:pPr algn="l">
              <a:defRPr sz="4500" b="1">
                <a:solidFill>
                  <a:srgbClr val="416F51"/>
                </a:solidFill>
                <a:latin typeface="Arial"/>
                <a:ea typeface="Arial"/>
                <a:cs typeface="Arial"/>
              </a:defRPr>
            </a:pPr>
            <a:r>
              <a:rPr sz="4500" b="1">
                <a:solidFill>
                  <a:srgbClr val="416F51"/>
                </a:solidFill>
                <a:latin typeface="Arial"/>
                <a:ea typeface="Arial"/>
                <a:cs typeface="Arial"/>
              </a:rPr>
              <a:t>~5%</a:t>
            </a:r>
          </a:p>
        </p:txBody>
      </p:sp>
      <p:sp>
        <p:nvSpPr>
          <p:cNvPr id="8" name="When the needle is&#10;inside the window">
            <a:extLst xmlns:a="http://schemas.openxmlformats.org/drawingml/2006/main">
              <a:ext uri="{FF2B5EF4-FFF2-40B4-BE49-F238E27FC236}">
                <a16:creationId xmlns:a16="http://schemas.microsoft.com/office/drawing/2014/main" id="{1AD0C6CA-FB0B-4DBA-AA4B-CB9EB5C131BF}"/>
              </a:ext>
            </a:extLst>
          </p:cNvPr>
          <p:cNvSpPr>
            <a:spLocks xmlns:a="http://schemas.openxmlformats.org/drawingml/2006/main" noGrp="1"/>
          </p:cNvSpPr>
          <p:nvPr/>
        </p:nvSpPr>
        <p:spPr>
          <a:xfrm xmlns:a="http://schemas.openxmlformats.org/drawingml/2006/main">
            <a:off x="8610600" y="4867275"/>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47080"/>
                </a:solidFill>
                <a:latin typeface="Arial"/>
                <a:ea typeface="Arial"/>
                <a:cs typeface="Arial"/>
              </a:defRPr>
            </a:defPPr>
          </a:lstStyle>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When the needle is</a:t>
            </a:r>
          </a:p>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inside the window</a:t>
            </a:r>
          </a:p>
        </p:txBody>
      </p:sp>
      <p:sp>
        <p:nvSpPr>
          <p:cNvPr id="9" name="100% retrieval accuracy in the tested NIAH grid through 32K cont">
            <a:extLst xmlns:a="http://schemas.openxmlformats.org/drawingml/2006/main">
              <a:ext uri="{FF2B5EF4-FFF2-40B4-BE49-F238E27FC236}">
                <a16:creationId xmlns:a16="http://schemas.microsoft.com/office/drawing/2014/main" id="{521AC2A3-2C95-41BD-AE54-A9AFC9C5AB7F}"/>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2F43"/>
                </a:solidFill>
                <a:latin typeface="Arial"/>
                <a:ea typeface="Arial"/>
                <a:cs typeface="Arial"/>
              </a:defRPr>
            </a:defPPr>
          </a:lstStyle>
          <a:p xmlns:a="http://schemas.openxmlformats.org/drawingml/2006/main">
            <a:pPr algn="l">
              <a:defRPr sz="1875" b="0">
                <a:solidFill>
                  <a:srgbClr val="292F43"/>
                </a:solidFill>
                <a:latin typeface="Arial"/>
                <a:ea typeface="Arial"/>
                <a:cs typeface="Arial"/>
              </a:defRPr>
            </a:pPr>
            <a:r>
              <a:rPr sz="1875" b="0">
                <a:solidFill>
                  <a:srgbClr val="292F43"/>
                </a:solidFill>
                <a:latin typeface="Arial"/>
                <a:ea typeface="Arial"/>
                <a:cs typeface="Arial"/>
              </a:rPr>
              <a:t>100% retrieval accuracy in the tested NIAH grid through 32K context</a:t>
            </a:r>
          </a:p>
        </p:txBody>
      </p:sp>
    </p:spTree>
    <p:extLst>
      <p:ext uri="{BB962C8B-B14F-4D97-AF65-F5344CB8AC3E}">
        <p14:creationId xmlns:p14="http://schemas.microsoft.com/office/powerpoint/2010/main" val="8157322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t 32K, standard decoding reads 4.4× fewer KV tokens">
            <a:extLst xmlns:a="http://schemas.openxmlformats.org/drawingml/2006/main">
              <a:ext uri="{FF2B5EF4-FFF2-40B4-BE49-F238E27FC236}">
                <a16:creationId xmlns:a16="http://schemas.microsoft.com/office/drawing/2014/main" id="{287CDBF4-31F4-4F54-ADE5-CDE17C51526C}"/>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At 32K, standard decoding reads 4.4× fewer KV tokens</a:t>
            </a:r>
          </a:p>
        </p:txBody>
      </p:sp>
      <p:pic>
        <p:nvPicPr>
          <p:cNvPr id="2" name="">
            <a:extLst xmlns:a="http://schemas.openxmlformats.org/drawingml/2006/main">
              <a:ext uri="{FF2B5EF4-FFF2-40B4-BE49-F238E27FC236}">
                <a16:creationId xmlns:a16="http://schemas.microsoft.com/office/drawing/2014/main" id="{B97B413C-19F5-43FB-A94E-DE4DA98D94D1}"/>
              </a:ext>
            </a:extLst>
          </p:cNvPr>
          <p:cNvPicPr>
            <a:picLocks xmlns:a="http://schemas.openxmlformats.org/drawingml/2006/main" noChangeAspect="1"/>
          </p:cNvPicPr>
          <p:nvPr/>
        </p:nvPicPr>
        <p:blipFill>
          <a:blip xmlns:r="http://schemas.openxmlformats.org/officeDocument/2006/relationships" xmlns:a="http://schemas.openxmlformats.org/drawingml/2006/main" r:embed="R8665f02318594ac7"/>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10">
            <a:extLst xmlns:a="http://schemas.openxmlformats.org/drawingml/2006/main">
              <a:ext uri="{FF2B5EF4-FFF2-40B4-BE49-F238E27FC236}">
                <a16:creationId xmlns:a16="http://schemas.microsoft.com/office/drawing/2014/main" id="{6FABB3BF-FF31-40F2-ACC0-2C8B3CD14AF6}"/>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10</a:t>
            </a:r>
          </a:p>
        </p:txBody>
      </p:sp>
      <p:sp>
        <p:nvSpPr>
          <p:cNvPr id="4" name="Average KV tokens accessed per layer (thousands), at 32K">
            <a:extLst xmlns:a="http://schemas.openxmlformats.org/drawingml/2006/main">
              <a:ext uri="{FF2B5EF4-FFF2-40B4-BE49-F238E27FC236}">
                <a16:creationId xmlns:a16="http://schemas.microsoft.com/office/drawing/2014/main" id="{587FA023-9E18-450E-9F5B-B3A9EE1A5F8A}"/>
              </a:ext>
            </a:extLst>
          </p:cNvPr>
          <p:cNvSpPr>
            <a:spLocks xmlns:a="http://schemas.openxmlformats.org/drawingml/2006/main" noGrp="1"/>
          </p:cNvSpPr>
          <p:nvPr/>
        </p:nvSpPr>
        <p:spPr>
          <a:xfrm xmlns:a="http://schemas.openxmlformats.org/drawingml/2006/main">
            <a:off x="609600" y="13335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Average KV tokens accessed per layer (thousands), at 32K</a:t>
            </a:r>
          </a:p>
        </p:txBody>
      </p:sp>
      <p:graphicFrame>
        <p:nvGraphicFramePr>
          <p:cNvPr id="5" name="Chart">
            <a:extLst xmlns:a="http://schemas.openxmlformats.org/drawingml/2006/main">
              <a:ext uri="{FF2B5EF4-FFF2-40B4-BE49-F238E27FC236}">
                <a16:creationId xmlns:a16="http://schemas.microsoft.com/office/drawing/2014/main" id="{70EC1643-6DF6-4B69-969E-F8AFF203F893}"/>
              </a:ext>
            </a:extLst>
          </p:cNvPr>
          <p:cNvGraphicFramePr/>
          <p:nvPr/>
        </p:nvGraphicFramePr>
        <p:xfrm>
          <a:off xmlns:a="http://schemas.openxmlformats.org/drawingml/2006/main" x="609600" y="1905000"/>
          <a:ext xmlns:a="http://schemas.openxmlformats.org/drawingml/2006/main" cx="7715250" cy="3352800"/>
        </p:xfrm>
        <a:graphic xmlns:a="http://schemas.openxmlformats.org/drawingml/2006/main">
          <a:graphicData uri="http://schemas.openxmlformats.org/drawingml/2006/chart">
            <c:chart xmlns:r="http://schemas.openxmlformats.org/officeDocument/2006/relationships" xmlns:c="http://schemas.openxmlformats.org/drawingml/2006/chart" r:id="Rc4426e49cbd54fe1"/>
          </a:graphicData>
        </a:graphic>
      </p:graphicFrame>
      <p:sp>
        <p:nvSpPr>
          <p:cNvPr id="6" name="4.4×">
            <a:extLst xmlns:a="http://schemas.openxmlformats.org/drawingml/2006/main">
              <a:ext uri="{FF2B5EF4-FFF2-40B4-BE49-F238E27FC236}">
                <a16:creationId xmlns:a16="http://schemas.microsoft.com/office/drawing/2014/main" id="{BFC9D321-FD26-440B-A5FF-8713E0B1BBB1}"/>
              </a:ext>
            </a:extLst>
          </p:cNvPr>
          <p:cNvSpPr>
            <a:spLocks xmlns:a="http://schemas.openxmlformats.org/drawingml/2006/main" noGrp="1"/>
          </p:cNvSpPr>
          <p:nvPr/>
        </p:nvSpPr>
        <p:spPr>
          <a:xfrm xmlns:a="http://schemas.openxmlformats.org/drawingml/2006/main">
            <a:off x="9020175" y="2076450"/>
            <a:ext cx="257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725" b="1">
                <a:solidFill>
                  <a:srgbClr val="416F51"/>
                </a:solidFill>
                <a:latin typeface="Arial"/>
                <a:ea typeface="Arial"/>
                <a:cs typeface="Arial"/>
              </a:defRPr>
            </a:defPPr>
          </a:lstStyle>
          <a:p xmlns:a="http://schemas.openxmlformats.org/drawingml/2006/main">
            <a:pPr algn="l">
              <a:defRPr sz="4725" b="1">
                <a:solidFill>
                  <a:srgbClr val="416F51"/>
                </a:solidFill>
                <a:latin typeface="Arial"/>
                <a:ea typeface="Arial"/>
                <a:cs typeface="Arial"/>
              </a:defRPr>
            </a:pPr>
            <a:r>
              <a:rPr sz="4725" b="1">
                <a:solidFill>
                  <a:srgbClr val="416F51"/>
                </a:solidFill>
                <a:latin typeface="Arial"/>
                <a:ea typeface="Arial"/>
                <a:cs typeface="Arial"/>
              </a:rPr>
              <a:t>4.4×</a:t>
            </a:r>
          </a:p>
        </p:txBody>
      </p:sp>
      <p:sp>
        <p:nvSpPr>
          <p:cNvPr id="7" name="fewer KV reads&#10;standard distribution">
            <a:extLst xmlns:a="http://schemas.openxmlformats.org/drawingml/2006/main">
              <a:ext uri="{FF2B5EF4-FFF2-40B4-BE49-F238E27FC236}">
                <a16:creationId xmlns:a16="http://schemas.microsoft.com/office/drawing/2014/main" id="{C9B84763-67CE-4664-A019-FCFAC8D7B222}"/>
              </a:ext>
            </a:extLst>
          </p:cNvPr>
          <p:cNvSpPr>
            <a:spLocks xmlns:a="http://schemas.openxmlformats.org/drawingml/2006/main" noGrp="1"/>
          </p:cNvSpPr>
          <p:nvPr/>
        </p:nvSpPr>
        <p:spPr>
          <a:xfrm xmlns:a="http://schemas.openxmlformats.org/drawingml/2006/main">
            <a:off x="9020175" y="2943225"/>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80"/>
                </a:solidFill>
                <a:latin typeface="Arial"/>
                <a:ea typeface="Arial"/>
                <a:cs typeface="Arial"/>
              </a:defRPr>
            </a:defPPr>
          </a:lstStyle>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fewer KV reads</a:t>
            </a:r>
          </a:p>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standard distribution</a:t>
            </a:r>
          </a:p>
        </p:txBody>
      </p:sp>
      <p:sp>
        <p:nvSpPr>
          <p:cNvPr id="8" name="~12×">
            <a:extLst xmlns:a="http://schemas.openxmlformats.org/drawingml/2006/main">
              <a:ext uri="{FF2B5EF4-FFF2-40B4-BE49-F238E27FC236}">
                <a16:creationId xmlns:a16="http://schemas.microsoft.com/office/drawing/2014/main" id="{70240F70-3DD2-4FC2-8A9D-F498AD4CC407}"/>
              </a:ext>
            </a:extLst>
          </p:cNvPr>
          <p:cNvSpPr>
            <a:spLocks xmlns:a="http://schemas.openxmlformats.org/drawingml/2006/main" noGrp="1"/>
          </p:cNvSpPr>
          <p:nvPr/>
        </p:nvSpPr>
        <p:spPr>
          <a:xfrm xmlns:a="http://schemas.openxmlformats.org/drawingml/2006/main">
            <a:off x="9020175" y="4086225"/>
            <a:ext cx="2571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416F51"/>
                </a:solidFill>
                <a:latin typeface="Arial"/>
                <a:ea typeface="Arial"/>
                <a:cs typeface="Arial"/>
              </a:defRPr>
            </a:defPPr>
          </a:lstStyle>
          <a:p xmlns:a="http://schemas.openxmlformats.org/drawingml/2006/main">
            <a:pPr algn="l">
              <a:defRPr sz="3225" b="1">
                <a:solidFill>
                  <a:srgbClr val="416F51"/>
                </a:solidFill>
                <a:latin typeface="Arial"/>
                <a:ea typeface="Arial"/>
                <a:cs typeface="Arial"/>
              </a:defRPr>
            </a:pPr>
            <a:r>
              <a:rPr sz="3225" b="1">
                <a:solidFill>
                  <a:srgbClr val="416F51"/>
                </a:solidFill>
                <a:latin typeface="Arial"/>
                <a:ea typeface="Arial"/>
                <a:cs typeface="Arial"/>
              </a:rPr>
              <a:t>~12×</a:t>
            </a:r>
          </a:p>
        </p:txBody>
      </p:sp>
      <p:sp>
        <p:nvSpPr>
          <p:cNvPr id="9" name="in the simple setting">
            <a:extLst xmlns:a="http://schemas.openxmlformats.org/drawingml/2006/main">
              <a:ext uri="{FF2B5EF4-FFF2-40B4-BE49-F238E27FC236}">
                <a16:creationId xmlns:a16="http://schemas.microsoft.com/office/drawing/2014/main" id="{299AB89D-07FF-4019-8FD7-FCA30D601FC2}"/>
              </a:ext>
            </a:extLst>
          </p:cNvPr>
          <p:cNvSpPr>
            <a:spLocks xmlns:a="http://schemas.openxmlformats.org/drawingml/2006/main" noGrp="1"/>
          </p:cNvSpPr>
          <p:nvPr/>
        </p:nvSpPr>
        <p:spPr>
          <a:xfrm xmlns:a="http://schemas.openxmlformats.org/drawingml/2006/main">
            <a:off x="9020175" y="4810125"/>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47080"/>
                </a:solidFill>
                <a:latin typeface="Arial"/>
                <a:ea typeface="Arial"/>
                <a:cs typeface="Arial"/>
              </a:defRPr>
            </a:defPPr>
          </a:lstStyle>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in the simple setting</a:t>
            </a:r>
          </a:p>
        </p:txBody>
      </p:sp>
      <p:sp>
        <p:nvSpPr>
          <p:cNvPr id="10" name="KV access reduction. The full cache remains stored. End-to-end s">
            <a:extLst xmlns:a="http://schemas.openxmlformats.org/drawingml/2006/main">
              <a:ext uri="{FF2B5EF4-FFF2-40B4-BE49-F238E27FC236}">
                <a16:creationId xmlns:a16="http://schemas.microsoft.com/office/drawing/2014/main" id="{734C596C-12BB-41F0-92F7-829B4A050B9C}"/>
              </a:ext>
            </a:extLst>
          </p:cNvPr>
          <p:cNvSpPr>
            <a:spLocks xmlns:a="http://schemas.openxmlformats.org/drawingml/2006/main" noGrp="1"/>
          </p:cNvSpPr>
          <p:nvPr/>
        </p:nvSpPr>
        <p:spPr>
          <a:xfrm xmlns:a="http://schemas.openxmlformats.org/drawingml/2006/main">
            <a:off x="609600" y="56578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KV access reduction. The full cache remains stored. End-to-end speedup is unmeasured.</a:t>
            </a:r>
          </a:p>
        </p:txBody>
      </p:sp>
    </p:spTree>
    <p:extLst>
      <p:ext uri="{BB962C8B-B14F-4D97-AF65-F5344CB8AC3E}">
        <p14:creationId xmlns:p14="http://schemas.microsoft.com/office/powerpoint/2010/main" val="192489847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he savings come with a modest CPT overhead">
            <a:extLst xmlns:a="http://schemas.openxmlformats.org/drawingml/2006/main">
              <a:ext uri="{FF2B5EF4-FFF2-40B4-BE49-F238E27FC236}">
                <a16:creationId xmlns:a16="http://schemas.microsoft.com/office/drawing/2014/main" id="{489A2F44-CA2F-4D53-A41A-AD9B43EAF083}"/>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The savings come with a modest CPT overhead</a:t>
            </a:r>
          </a:p>
        </p:txBody>
      </p:sp>
      <p:pic>
        <p:nvPicPr>
          <p:cNvPr id="2" name="">
            <a:extLst xmlns:a="http://schemas.openxmlformats.org/drawingml/2006/main">
              <a:ext uri="{FF2B5EF4-FFF2-40B4-BE49-F238E27FC236}">
                <a16:creationId xmlns:a16="http://schemas.microsoft.com/office/drawing/2014/main" id="{7431963C-D613-43B5-AB1F-3A3184C78410}"/>
              </a:ext>
            </a:extLst>
          </p:cNvPr>
          <p:cNvPicPr>
            <a:picLocks xmlns:a="http://schemas.openxmlformats.org/drawingml/2006/main" noChangeAspect="1"/>
          </p:cNvPicPr>
          <p:nvPr/>
        </p:nvPicPr>
        <p:blipFill>
          <a:blip xmlns:r="http://schemas.openxmlformats.org/officeDocument/2006/relationships" xmlns:a="http://schemas.openxmlformats.org/drawingml/2006/main" r:embed="R6bd61119b38145a0"/>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11">
            <a:extLst xmlns:a="http://schemas.openxmlformats.org/drawingml/2006/main">
              <a:ext uri="{FF2B5EF4-FFF2-40B4-BE49-F238E27FC236}">
                <a16:creationId xmlns:a16="http://schemas.microsoft.com/office/drawing/2014/main" id="{2031E588-D419-47B5-9AE1-A91A8B7AF2EC}"/>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11</a:t>
            </a:r>
          </a:p>
        </p:txBody>
      </p:sp>
      <p:sp>
        <p:nvSpPr>
          <p:cNvPr id="4" name="CPT at 32K">
            <a:extLst xmlns:a="http://schemas.openxmlformats.org/drawingml/2006/main">
              <a:ext uri="{FF2B5EF4-FFF2-40B4-BE49-F238E27FC236}">
                <a16:creationId xmlns:a16="http://schemas.microsoft.com/office/drawing/2014/main" id="{351456AE-B900-4B77-9935-528C81172A53}"/>
              </a:ext>
            </a:extLst>
          </p:cNvPr>
          <p:cNvSpPr>
            <a:spLocks xmlns:a="http://schemas.openxmlformats.org/drawingml/2006/main" noGrp="1"/>
          </p:cNvSpPr>
          <p:nvPr/>
        </p:nvSpPr>
        <p:spPr>
          <a:xfrm xmlns:a="http://schemas.openxmlformats.org/drawingml/2006/main">
            <a:off x="609600" y="16383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647080"/>
                </a:solidFill>
                <a:latin typeface="Arial"/>
                <a:ea typeface="Arial"/>
                <a:cs typeface="Arial"/>
              </a:defRPr>
            </a:defPPr>
          </a:lstStyle>
          <a:p xmlns:a="http://schemas.openxmlformats.org/drawingml/2006/main">
            <a:pPr algn="l">
              <a:defRPr sz="2175" b="0">
                <a:solidFill>
                  <a:srgbClr val="647080"/>
                </a:solidFill>
                <a:latin typeface="Arial"/>
                <a:ea typeface="Arial"/>
                <a:cs typeface="Arial"/>
              </a:defRPr>
            </a:pPr>
            <a:r>
              <a:rPr sz="2175" b="0">
                <a:solidFill>
                  <a:srgbClr val="647080"/>
                </a:solidFill>
                <a:latin typeface="Arial"/>
                <a:ea typeface="Arial"/>
                <a:cs typeface="Arial"/>
              </a:rPr>
              <a:t>CPT at 32K</a:t>
            </a:r>
          </a:p>
        </p:txBody>
      </p:sp>
      <p:sp>
        <p:nvSpPr>
          <p:cNvPr id="5" name="+8.4%">
            <a:extLst xmlns:a="http://schemas.openxmlformats.org/drawingml/2006/main">
              <a:ext uri="{FF2B5EF4-FFF2-40B4-BE49-F238E27FC236}">
                <a16:creationId xmlns:a16="http://schemas.microsoft.com/office/drawing/2014/main" id="{5AEDD476-24C4-4970-B3BE-4F7A6D3725D3}"/>
              </a:ext>
            </a:extLst>
          </p:cNvPr>
          <p:cNvSpPr>
            <a:spLocks xmlns:a="http://schemas.openxmlformats.org/drawingml/2006/main" noGrp="1"/>
          </p:cNvSpPr>
          <p:nvPr/>
        </p:nvSpPr>
        <p:spPr>
          <a:xfrm xmlns:a="http://schemas.openxmlformats.org/drawingml/2006/main">
            <a:off x="609600" y="22574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292F43"/>
                </a:solidFill>
                <a:latin typeface="Arial"/>
                <a:ea typeface="Arial"/>
                <a:cs typeface="Arial"/>
              </a:defRPr>
            </a:defPPr>
          </a:lstStyle>
          <a:p xmlns:a="http://schemas.openxmlformats.org/drawingml/2006/main">
            <a:pPr algn="l">
              <a:defRPr sz="4650" b="1">
                <a:solidFill>
                  <a:srgbClr val="292F43"/>
                </a:solidFill>
                <a:latin typeface="Arial"/>
                <a:ea typeface="Arial"/>
                <a:cs typeface="Arial"/>
              </a:defRPr>
            </a:pPr>
            <a:r>
              <a:rPr sz="4650" b="1">
                <a:solidFill>
                  <a:srgbClr val="292F43"/>
                </a:solidFill>
                <a:latin typeface="Arial"/>
                <a:ea typeface="Arial"/>
                <a:cs typeface="Arial"/>
              </a:rPr>
              <a:t>+8.4%</a:t>
            </a:r>
          </a:p>
        </p:txBody>
      </p:sp>
      <p:sp>
        <p:nvSpPr>
          <p:cNvPr id="6" name="Forward time per layer">
            <a:extLst xmlns:a="http://schemas.openxmlformats.org/drawingml/2006/main">
              <a:ext uri="{FF2B5EF4-FFF2-40B4-BE49-F238E27FC236}">
                <a16:creationId xmlns:a16="http://schemas.microsoft.com/office/drawing/2014/main" id="{D60E428E-8B0D-4A64-B4BE-264CFEC7104A}"/>
              </a:ext>
            </a:extLst>
          </p:cNvPr>
          <p:cNvSpPr>
            <a:spLocks xmlns:a="http://schemas.openxmlformats.org/drawingml/2006/main" noGrp="1"/>
          </p:cNvSpPr>
          <p:nvPr/>
        </p:nvSpPr>
        <p:spPr>
          <a:xfrm xmlns:a="http://schemas.openxmlformats.org/drawingml/2006/main">
            <a:off x="609600" y="32099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647080"/>
                </a:solidFill>
                <a:latin typeface="Arial"/>
                <a:ea typeface="Arial"/>
                <a:cs typeface="Arial"/>
              </a:defRPr>
            </a:defPPr>
          </a:lstStyle>
          <a:p xmlns:a="http://schemas.openxmlformats.org/drawingml/2006/main">
            <a:pPr algn="l">
              <a:defRPr sz="2100" b="0">
                <a:solidFill>
                  <a:srgbClr val="647080"/>
                </a:solidFill>
                <a:latin typeface="Arial"/>
                <a:ea typeface="Arial"/>
                <a:cs typeface="Arial"/>
              </a:defRPr>
            </a:pPr>
            <a:r>
              <a:rPr sz="2100" b="0">
                <a:solidFill>
                  <a:srgbClr val="647080"/>
                </a:solidFill>
                <a:latin typeface="Arial"/>
                <a:ea typeface="Arial"/>
                <a:cs typeface="Arial"/>
              </a:rPr>
              <a:t>Forward time per layer</a:t>
            </a:r>
          </a:p>
        </p:txBody>
      </p:sp>
      <p:sp>
        <p:nvSpPr>
          <p:cNvPr id="7" name="+7.9%">
            <a:extLst xmlns:a="http://schemas.openxmlformats.org/drawingml/2006/main">
              <a:ext uri="{FF2B5EF4-FFF2-40B4-BE49-F238E27FC236}">
                <a16:creationId xmlns:a16="http://schemas.microsoft.com/office/drawing/2014/main" id="{AF3A8C49-22C3-4FF0-8A8B-00A2932AF7A9}"/>
              </a:ext>
            </a:extLst>
          </p:cNvPr>
          <p:cNvSpPr>
            <a:spLocks xmlns:a="http://schemas.openxmlformats.org/drawingml/2006/main" noGrp="1"/>
          </p:cNvSpPr>
          <p:nvPr/>
        </p:nvSpPr>
        <p:spPr>
          <a:xfrm xmlns:a="http://schemas.openxmlformats.org/drawingml/2006/main">
            <a:off x="609600" y="395287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292F43"/>
                </a:solidFill>
                <a:latin typeface="Arial"/>
                <a:ea typeface="Arial"/>
                <a:cs typeface="Arial"/>
              </a:defRPr>
            </a:defPPr>
          </a:lstStyle>
          <a:p xmlns:a="http://schemas.openxmlformats.org/drawingml/2006/main">
            <a:pPr algn="l">
              <a:defRPr sz="4650" b="1">
                <a:solidFill>
                  <a:srgbClr val="292F43"/>
                </a:solidFill>
                <a:latin typeface="Arial"/>
                <a:ea typeface="Arial"/>
                <a:cs typeface="Arial"/>
              </a:defRPr>
            </a:pPr>
            <a:r>
              <a:rPr sz="4650" b="1">
                <a:solidFill>
                  <a:srgbClr val="292F43"/>
                </a:solidFill>
                <a:latin typeface="Arial"/>
                <a:ea typeface="Arial"/>
                <a:cs typeface="Arial"/>
              </a:rPr>
              <a:t>+7.9%</a:t>
            </a:r>
          </a:p>
        </p:txBody>
      </p:sp>
      <p:sp>
        <p:nvSpPr>
          <p:cNvPr id="8" name="Backward time per layer">
            <a:extLst xmlns:a="http://schemas.openxmlformats.org/drawingml/2006/main">
              <a:ext uri="{FF2B5EF4-FFF2-40B4-BE49-F238E27FC236}">
                <a16:creationId xmlns:a16="http://schemas.microsoft.com/office/drawing/2014/main" id="{6B8F34C5-5FAC-4026-94C3-81A40DB4BB4A}"/>
              </a:ext>
            </a:extLst>
          </p:cNvPr>
          <p:cNvSpPr>
            <a:spLocks xmlns:a="http://schemas.openxmlformats.org/drawingml/2006/main" noGrp="1"/>
          </p:cNvSpPr>
          <p:nvPr/>
        </p:nvSpPr>
        <p:spPr>
          <a:xfrm xmlns:a="http://schemas.openxmlformats.org/drawingml/2006/main">
            <a:off x="609600" y="49339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647080"/>
                </a:solidFill>
                <a:latin typeface="Arial"/>
                <a:ea typeface="Arial"/>
                <a:cs typeface="Arial"/>
              </a:defRPr>
            </a:defPPr>
          </a:lstStyle>
          <a:p xmlns:a="http://schemas.openxmlformats.org/drawingml/2006/main">
            <a:pPr algn="l">
              <a:defRPr sz="2100" b="0">
                <a:solidFill>
                  <a:srgbClr val="647080"/>
                </a:solidFill>
                <a:latin typeface="Arial"/>
                <a:ea typeface="Arial"/>
                <a:cs typeface="Arial"/>
              </a:defRPr>
            </a:pPr>
            <a:r>
              <a:rPr sz="2100" b="0">
                <a:solidFill>
                  <a:srgbClr val="647080"/>
                </a:solidFill>
                <a:latin typeface="Arial"/>
                <a:ea typeface="Arial"/>
                <a:cs typeface="Arial"/>
              </a:rPr>
              <a:t>Backward time per layer</a:t>
            </a:r>
          </a:p>
        </p:txBody>
      </p:sp>
      <p:sp>
        <p:nvSpPr>
          <p:cNvPr id="9" name="Practical limits">
            <a:extLst xmlns:a="http://schemas.openxmlformats.org/drawingml/2006/main">
              <a:ext uri="{FF2B5EF4-FFF2-40B4-BE49-F238E27FC236}">
                <a16:creationId xmlns:a16="http://schemas.microsoft.com/office/drawing/2014/main" id="{FD1E3590-B936-4CDC-9288-B21B86C64587}"/>
              </a:ext>
            </a:extLst>
          </p:cNvPr>
          <p:cNvSpPr>
            <a:spLocks xmlns:a="http://schemas.openxmlformats.org/drawingml/2006/main" noGrp="1"/>
          </p:cNvSpPr>
          <p:nvPr/>
        </p:nvSpPr>
        <p:spPr>
          <a:xfrm xmlns:a="http://schemas.openxmlformats.org/drawingml/2006/main">
            <a:off x="6705600" y="1638300"/>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92F43"/>
                </a:solidFill>
                <a:latin typeface="Arial"/>
                <a:ea typeface="Arial"/>
                <a:cs typeface="Arial"/>
              </a:defRPr>
            </a:defPPr>
          </a:lstStyle>
          <a:p xmlns:a="http://schemas.openxmlformats.org/drawingml/2006/main">
            <a:pPr algn="l">
              <a:defRPr sz="2250" b="1">
                <a:solidFill>
                  <a:srgbClr val="292F43"/>
                </a:solidFill>
                <a:latin typeface="Arial"/>
                <a:ea typeface="Arial"/>
                <a:cs typeface="Arial"/>
              </a:defRPr>
            </a:pPr>
            <a:r>
              <a:rPr sz="2250" b="1">
                <a:solidFill>
                  <a:srgbClr val="292F43"/>
                </a:solidFill>
                <a:latin typeface="Arial"/>
                <a:ea typeface="Arial"/>
                <a:cs typeface="Arial"/>
              </a:rPr>
              <a:t>Practical limits</a:t>
            </a:r>
          </a:p>
        </p:txBody>
      </p:sp>
      <p:sp>
        <p:nvSpPr>
          <p:cNvPr id="10" name="Full history stays in the KV cache">
            <a:extLst xmlns:a="http://schemas.openxmlformats.org/drawingml/2006/main">
              <a:ext uri="{FF2B5EF4-FFF2-40B4-BE49-F238E27FC236}">
                <a16:creationId xmlns:a16="http://schemas.microsoft.com/office/drawing/2014/main" id="{4F92B725-C1EF-4725-B35A-4CB488F8C6D8}"/>
              </a:ext>
            </a:extLst>
          </p:cNvPr>
          <p:cNvSpPr>
            <a:spLocks xmlns:a="http://schemas.openxmlformats.org/drawingml/2006/main" noGrp="1"/>
          </p:cNvSpPr>
          <p:nvPr/>
        </p:nvSpPr>
        <p:spPr>
          <a:xfrm xmlns:a="http://schemas.openxmlformats.org/drawingml/2006/main">
            <a:off x="6705600" y="2428875"/>
            <a:ext cx="4857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Full history stays in the KV cache</a:t>
            </a:r>
          </a:p>
        </p:txBody>
      </p:sp>
      <p:sp>
        <p:nvSpPr>
          <p:cNvPr id="11" name="Savings depend on the input&#10;and the learned routing">
            <a:extLst xmlns:a="http://schemas.openxmlformats.org/drawingml/2006/main">
              <a:ext uri="{FF2B5EF4-FFF2-40B4-BE49-F238E27FC236}">
                <a16:creationId xmlns:a16="http://schemas.microsoft.com/office/drawing/2014/main" id="{AC7E3E7A-9502-4DF1-A3EA-50982FCC0A39}"/>
              </a:ext>
            </a:extLst>
          </p:cNvPr>
          <p:cNvSpPr>
            <a:spLocks xmlns:a="http://schemas.openxmlformats.org/drawingml/2006/main" noGrp="1"/>
          </p:cNvSpPr>
          <p:nvPr/>
        </p:nvSpPr>
        <p:spPr>
          <a:xfrm xmlns:a="http://schemas.openxmlformats.org/drawingml/2006/main">
            <a:off x="6705600" y="3476625"/>
            <a:ext cx="4857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Savings depend on the input</a:t>
            </a:r>
          </a:p>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and the learned routing</a:t>
            </a:r>
          </a:p>
        </p:txBody>
      </p:sp>
      <p:sp>
        <p:nvSpPr>
          <p:cNvPr id="12" name="Evidence covers models up to 3B">
            <a:extLst xmlns:a="http://schemas.openxmlformats.org/drawingml/2006/main">
              <a:ext uri="{FF2B5EF4-FFF2-40B4-BE49-F238E27FC236}">
                <a16:creationId xmlns:a16="http://schemas.microsoft.com/office/drawing/2014/main" id="{471568F7-3B79-4C68-A89B-08D5FDAC9F30}"/>
              </a:ext>
            </a:extLst>
          </p:cNvPr>
          <p:cNvSpPr>
            <a:spLocks xmlns:a="http://schemas.openxmlformats.org/drawingml/2006/main" noGrp="1"/>
          </p:cNvSpPr>
          <p:nvPr/>
        </p:nvSpPr>
        <p:spPr>
          <a:xfrm xmlns:a="http://schemas.openxmlformats.org/drawingml/2006/main">
            <a:off x="6705600" y="4762500"/>
            <a:ext cx="4857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Evidence covers models up to 3B</a:t>
            </a:r>
          </a:p>
        </p:txBody>
      </p:sp>
    </p:spTree>
    <p:extLst>
      <p:ext uri="{BB962C8B-B14F-4D97-AF65-F5344CB8AC3E}">
        <p14:creationId xmlns:p14="http://schemas.microsoft.com/office/powerpoint/2010/main" val="173116496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witch Attention">
            <a:extLst xmlns:a="http://schemas.openxmlformats.org/drawingml/2006/main">
              <a:ext uri="{FF2B5EF4-FFF2-40B4-BE49-F238E27FC236}">
                <a16:creationId xmlns:a16="http://schemas.microsoft.com/office/drawing/2014/main" id="{A7015D6B-B820-4E4C-B776-125D109610F1}"/>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Switch Attention</a:t>
            </a:r>
          </a:p>
        </p:txBody>
      </p:sp>
      <p:pic>
        <p:nvPicPr>
          <p:cNvPr id="2" name="">
            <a:extLst xmlns:a="http://schemas.openxmlformats.org/drawingml/2006/main">
              <a:ext uri="{FF2B5EF4-FFF2-40B4-BE49-F238E27FC236}">
                <a16:creationId xmlns:a16="http://schemas.microsoft.com/office/drawing/2014/main" id="{C6A81F51-ED84-4D95-ADFC-F864067BF903}"/>
              </a:ext>
            </a:extLst>
          </p:cNvPr>
          <p:cNvPicPr>
            <a:picLocks xmlns:a="http://schemas.openxmlformats.org/drawingml/2006/main" noChangeAspect="1"/>
          </p:cNvPicPr>
          <p:nvPr/>
        </p:nvPicPr>
        <p:blipFill>
          <a:blip xmlns:r="http://schemas.openxmlformats.org/officeDocument/2006/relationships" xmlns:a="http://schemas.openxmlformats.org/drawingml/2006/main" r:embed="Rc488993045904a59"/>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12">
            <a:extLst xmlns:a="http://schemas.openxmlformats.org/drawingml/2006/main">
              <a:ext uri="{FF2B5EF4-FFF2-40B4-BE49-F238E27FC236}">
                <a16:creationId xmlns:a16="http://schemas.microsoft.com/office/drawing/2014/main" id="{C1CEA65E-D10C-48EB-A35A-60A3A7809C6F}"/>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12</a:t>
            </a:r>
          </a:p>
        </p:txBody>
      </p:sp>
      <p:sp>
        <p:nvSpPr>
          <p:cNvPr id="4" name="Choose full or local attention&#10;for each token at each layer">
            <a:extLst xmlns:a="http://schemas.openxmlformats.org/drawingml/2006/main">
              <a:ext uri="{FF2B5EF4-FFF2-40B4-BE49-F238E27FC236}">
                <a16:creationId xmlns:a16="http://schemas.microsoft.com/office/drawing/2014/main" id="{80FFC423-F09D-48C6-A767-B5AEA8796D57}"/>
              </a:ext>
            </a:extLst>
          </p:cNvPr>
          <p:cNvSpPr>
            <a:spLocks xmlns:a="http://schemas.openxmlformats.org/drawingml/2006/main" noGrp="1"/>
          </p:cNvSpPr>
          <p:nvPr/>
        </p:nvSpPr>
        <p:spPr>
          <a:xfrm xmlns:a="http://schemas.openxmlformats.org/drawingml/2006/main">
            <a:off x="609600" y="1676400"/>
            <a:ext cx="109728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292F43"/>
                </a:solidFill>
                <a:latin typeface="Arial"/>
                <a:ea typeface="Arial"/>
                <a:cs typeface="Arial"/>
              </a:defRPr>
            </a:defPPr>
          </a:lstStyle>
          <a:p xmlns:a="http://schemas.openxmlformats.org/drawingml/2006/main">
            <a:pPr algn="l">
              <a:defRPr sz="3525" b="1">
                <a:solidFill>
                  <a:srgbClr val="292F43"/>
                </a:solidFill>
                <a:latin typeface="Arial"/>
                <a:ea typeface="Arial"/>
                <a:cs typeface="Arial"/>
              </a:defRPr>
            </a:pPr>
            <a:r>
              <a:rPr sz="3525" b="1">
                <a:solidFill>
                  <a:srgbClr val="292F43"/>
                </a:solidFill>
                <a:latin typeface="Arial"/>
                <a:ea typeface="Arial"/>
                <a:cs typeface="Arial"/>
              </a:rPr>
              <a:t>Choose full or local attention</a:t>
            </a:r>
          </a:p>
          <a:p xmlns:a="http://schemas.openxmlformats.org/drawingml/2006/main">
            <a:pPr algn="l">
              <a:defRPr sz="3525" b="1">
                <a:solidFill>
                  <a:srgbClr val="292F43"/>
                </a:solidFill>
                <a:latin typeface="Arial"/>
                <a:ea typeface="Arial"/>
                <a:cs typeface="Arial"/>
              </a:defRPr>
            </a:pPr>
            <a:r>
              <a:rPr sz="3525" b="1">
                <a:solidFill>
                  <a:srgbClr val="292F43"/>
                </a:solidFill>
                <a:latin typeface="Arial"/>
                <a:ea typeface="Arial"/>
                <a:cs typeface="Arial"/>
              </a:rPr>
              <a:t>for each token at each layer</a:t>
            </a:r>
          </a:p>
        </p:txBody>
      </p:sp>
      <p:sp>
        <p:nvSpPr>
          <p:cNvPr id="5" name="FullAttn-level averages on retrieval and LongBench-E&#10;4.4× fewer ">
            <a:extLst xmlns:a="http://schemas.openxmlformats.org/drawingml/2006/main">
              <a:ext uri="{FF2B5EF4-FFF2-40B4-BE49-F238E27FC236}">
                <a16:creationId xmlns:a16="http://schemas.microsoft.com/office/drawing/2014/main" id="{8561234C-E371-4832-BB6D-5895E74C1E7A}"/>
              </a:ext>
            </a:extLst>
          </p:cNvPr>
          <p:cNvSpPr>
            <a:spLocks xmlns:a="http://schemas.openxmlformats.org/drawingml/2006/main" noGrp="1"/>
          </p:cNvSpPr>
          <p:nvPr/>
        </p:nvSpPr>
        <p:spPr>
          <a:xfrm xmlns:a="http://schemas.openxmlformats.org/drawingml/2006/main">
            <a:off x="609600" y="3476625"/>
            <a:ext cx="10972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416F51"/>
                </a:solidFill>
                <a:latin typeface="Arial"/>
                <a:ea typeface="Arial"/>
                <a:cs typeface="Arial"/>
              </a:defRPr>
            </a:defPPr>
          </a:lstStyle>
          <a:p xmlns:a="http://schemas.openxmlformats.org/drawingml/2006/main">
            <a:pPr algn="l">
              <a:defRPr sz="2400" b="0">
                <a:solidFill>
                  <a:srgbClr val="416F51"/>
                </a:solidFill>
                <a:latin typeface="Arial"/>
                <a:ea typeface="Arial"/>
                <a:cs typeface="Arial"/>
              </a:defRPr>
            </a:pPr>
            <a:r>
              <a:rPr sz="2400" b="0">
                <a:solidFill>
                  <a:srgbClr val="416F51"/>
                </a:solidFill>
                <a:latin typeface="Arial"/>
                <a:ea typeface="Arial"/>
                <a:cs typeface="Arial"/>
              </a:rPr>
              <a:t>FullAttn-level averages on retrieval and LongBench-E</a:t>
            </a:r>
          </a:p>
          <a:p xmlns:a="http://schemas.openxmlformats.org/drawingml/2006/main">
            <a:pPr algn="l">
              <a:defRPr sz="2400" b="0">
                <a:solidFill>
                  <a:srgbClr val="416F51"/>
                </a:solidFill>
                <a:latin typeface="Arial"/>
                <a:ea typeface="Arial"/>
                <a:cs typeface="Arial"/>
              </a:defRPr>
            </a:pPr>
            <a:r>
              <a:rPr sz="2400" b="0">
                <a:solidFill>
                  <a:srgbClr val="416F51"/>
                </a:solidFill>
                <a:latin typeface="Arial"/>
                <a:ea typeface="Arial"/>
                <a:cs typeface="Arial"/>
              </a:rPr>
              <a:t>4.4× fewer KV reads in standard 32K decoding</a:t>
            </a:r>
          </a:p>
        </p:txBody>
      </p:sp>
      <p:sp>
        <p:nvSpPr>
          <p:cNvPr id="6" name="rich text">
            <a:extLst xmlns:a="http://schemas.openxmlformats.org/drawingml/2006/main">
              <a:ext uri="{FF2B5EF4-FFF2-40B4-BE49-F238E27FC236}">
                <a16:creationId xmlns:a16="http://schemas.microsoft.com/office/drawing/2014/main" id="{1489802B-C44D-4C5E-92A2-A8615856B064}"/>
              </a:ext>
            </a:extLst>
          </p:cNvPr>
          <p:cNvSpPr>
            <a:spLocks xmlns:a="http://schemas.openxmlformats.org/drawingml/2006/main" noGrp="1"/>
          </p:cNvSpPr>
          <p:nvPr/>
        </p:nvSpPr>
        <p:spPr>
          <a:xfrm xmlns:a="http://schemas.openxmlformats.org/drawingml/2006/main">
            <a:off x="609600" y="49911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92F43"/>
                </a:solidFill>
                <a:latin typeface="Arial"/>
                <a:ea typeface="Arial"/>
                <a:cs typeface="Arial"/>
              </a:defRPr>
            </a:defPPr>
          </a:lstStyle>
          <a:p xmlns:a="http://schemas.openxmlformats.org/drawingml/2006/main">
            <a:pPr algn="l">
              <a:defRPr sz="2025" b="0">
                <a:solidFill>
                  <a:srgbClr val="292F43"/>
                </a:solidFill>
                <a:latin typeface="Arial"/>
                <a:ea typeface="Arial"/>
                <a:cs typeface="Arial"/>
              </a:defRPr>
            </a:pPr>
            <a:r>
              <a:rPr sz="2025" b="0">
                <a:solidFill>
                  <a:srgbClr val="292F43"/>
                </a:solidFill>
                <a:latin typeface="Arial"/>
                <a:ea typeface="Arial"/>
                <a:cs typeface="Arial"/>
                <a:hlinkClick xmlns:r="http://schemas.openxmlformats.org/officeDocument/2006/relationships" r:id="Rd058269be3874c98"/>
              </a:rPr>
              <a:t>github.com/YushengZhao/SwitchAttentionKernels</a:t>
            </a:r>
          </a:p>
        </p:txBody>
      </p:sp>
      <p:sp>
        <p:nvSpPr>
          <p:cNvPr id="7" name="Thank you. Questions?">
            <a:extLst xmlns:a="http://schemas.openxmlformats.org/drawingml/2006/main">
              <a:ext uri="{FF2B5EF4-FFF2-40B4-BE49-F238E27FC236}">
                <a16:creationId xmlns:a16="http://schemas.microsoft.com/office/drawing/2014/main" id="{4F765EED-D667-4C48-A1B0-6D6C1B28883A}"/>
              </a:ext>
            </a:extLst>
          </p:cNvPr>
          <p:cNvSpPr>
            <a:spLocks xmlns:a="http://schemas.openxmlformats.org/drawingml/2006/main" noGrp="1"/>
          </p:cNvSpPr>
          <p:nvPr/>
        </p:nvSpPr>
        <p:spPr>
          <a:xfrm xmlns:a="http://schemas.openxmlformats.org/drawingml/2006/main">
            <a:off x="609600" y="5638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Thank you. Questions?</a:t>
            </a:r>
          </a:p>
        </p:txBody>
      </p:sp>
    </p:spTree>
    <p:extLst>
      <p:ext uri="{BB962C8B-B14F-4D97-AF65-F5344CB8AC3E}">
        <p14:creationId xmlns:p14="http://schemas.microsoft.com/office/powerpoint/2010/main" val="9612219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ard routing and straight-through training">
            <a:extLst xmlns:a="http://schemas.openxmlformats.org/drawingml/2006/main">
              <a:ext uri="{FF2B5EF4-FFF2-40B4-BE49-F238E27FC236}">
                <a16:creationId xmlns:a16="http://schemas.microsoft.com/office/drawing/2014/main" id="{2942BCF8-A5C1-414D-9493-4C479E09F6F4}"/>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Hard routing and straight-through training</a:t>
            </a:r>
          </a:p>
        </p:txBody>
      </p:sp>
      <p:pic>
        <p:nvPicPr>
          <p:cNvPr id="2" name="">
            <a:extLst xmlns:a="http://schemas.openxmlformats.org/drawingml/2006/main">
              <a:ext uri="{FF2B5EF4-FFF2-40B4-BE49-F238E27FC236}">
                <a16:creationId xmlns:a16="http://schemas.microsoft.com/office/drawing/2014/main" id="{EF00D300-A554-4059-ACFA-641D08722A6B}"/>
              </a:ext>
            </a:extLst>
          </p:cNvPr>
          <p:cNvPicPr>
            <a:picLocks xmlns:a="http://schemas.openxmlformats.org/drawingml/2006/main" noChangeAspect="1"/>
          </p:cNvPicPr>
          <p:nvPr/>
        </p:nvPicPr>
        <p:blipFill>
          <a:blip xmlns:r="http://schemas.openxmlformats.org/officeDocument/2006/relationships" xmlns:a="http://schemas.openxmlformats.org/drawingml/2006/main" r:embed="R7689a84f30204e7b"/>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1">
            <a:extLst xmlns:a="http://schemas.openxmlformats.org/drawingml/2006/main">
              <a:ext uri="{FF2B5EF4-FFF2-40B4-BE49-F238E27FC236}">
                <a16:creationId xmlns:a16="http://schemas.microsoft.com/office/drawing/2014/main" id="{E8647AFF-F8A2-41AE-B5C9-19B2D21D5693}"/>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1</a:t>
            </a:r>
          </a:p>
        </p:txBody>
      </p:sp>
      <p:sp>
        <p:nvSpPr>
          <p:cNvPr id="4" name="p = sigmoid(R(h))">
            <a:extLst xmlns:a="http://schemas.openxmlformats.org/drawingml/2006/main">
              <a:ext uri="{FF2B5EF4-FFF2-40B4-BE49-F238E27FC236}">
                <a16:creationId xmlns:a16="http://schemas.microsoft.com/office/drawing/2014/main" id="{9D046A06-8DEB-44EB-AE04-88BE3647749B}"/>
              </a:ext>
            </a:extLst>
          </p:cNvPr>
          <p:cNvSpPr>
            <a:spLocks xmlns:a="http://schemas.openxmlformats.org/drawingml/2006/main" noGrp="1"/>
          </p:cNvSpPr>
          <p:nvPr/>
        </p:nvSpPr>
        <p:spPr>
          <a:xfrm xmlns:a="http://schemas.openxmlformats.org/drawingml/2006/main">
            <a:off x="609600" y="1600200"/>
            <a:ext cx="10972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2F43"/>
                </a:solidFill>
                <a:latin typeface="Arial"/>
                <a:ea typeface="Arial"/>
                <a:cs typeface="Arial"/>
              </a:defRPr>
            </a:defPPr>
          </a:lstStyle>
          <a:p xmlns:a="http://schemas.openxmlformats.org/drawingml/2006/main">
            <a:pPr algn="l">
              <a:defRPr sz="2850" b="1">
                <a:solidFill>
                  <a:srgbClr val="292F43"/>
                </a:solidFill>
                <a:latin typeface="Arial"/>
                <a:ea typeface="Arial"/>
                <a:cs typeface="Arial"/>
              </a:defRPr>
            </a:pPr>
            <a:r>
              <a:rPr sz="2850" b="1">
                <a:solidFill>
                  <a:srgbClr val="292F43"/>
                </a:solidFill>
                <a:latin typeface="Arial"/>
                <a:ea typeface="Arial"/>
                <a:cs typeface="Arial"/>
              </a:rPr>
              <a:t>p = sigmoid(R(h))</a:t>
            </a:r>
          </a:p>
        </p:txBody>
      </p:sp>
      <p:sp>
        <p:nvSpPr>
          <p:cNvPr id="5" name="g = 1[p &gt; 0.5] + p − stopgrad(p)">
            <a:extLst xmlns:a="http://schemas.openxmlformats.org/drawingml/2006/main">
              <a:ext uri="{FF2B5EF4-FFF2-40B4-BE49-F238E27FC236}">
                <a16:creationId xmlns:a16="http://schemas.microsoft.com/office/drawing/2014/main" id="{C8611E21-E096-43A2-B8EF-FE25316C71A1}"/>
              </a:ext>
            </a:extLst>
          </p:cNvPr>
          <p:cNvSpPr>
            <a:spLocks xmlns:a="http://schemas.openxmlformats.org/drawingml/2006/main" noGrp="1"/>
          </p:cNvSpPr>
          <p:nvPr/>
        </p:nvSpPr>
        <p:spPr>
          <a:xfrm xmlns:a="http://schemas.openxmlformats.org/drawingml/2006/main">
            <a:off x="609600" y="2419350"/>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416F51"/>
                </a:solidFill>
                <a:latin typeface="Arial"/>
                <a:ea typeface="Arial"/>
                <a:cs typeface="Arial"/>
              </a:defRPr>
            </a:defPPr>
          </a:lstStyle>
          <a:p xmlns:a="http://schemas.openxmlformats.org/drawingml/2006/main">
            <a:pPr algn="l">
              <a:defRPr sz="2850" b="1">
                <a:solidFill>
                  <a:srgbClr val="416F51"/>
                </a:solidFill>
                <a:latin typeface="Arial"/>
                <a:ea typeface="Arial"/>
                <a:cs typeface="Arial"/>
              </a:defRPr>
            </a:pPr>
            <a:r>
              <a:rPr sz="2850" b="1">
                <a:solidFill>
                  <a:srgbClr val="416F51"/>
                </a:solidFill>
                <a:latin typeface="Arial"/>
                <a:ea typeface="Arial"/>
                <a:cs typeface="Arial"/>
              </a:rPr>
              <a:t>g = 1[p &gt; 0.5] + p − stopgrad(p)</a:t>
            </a:r>
          </a:p>
        </p:txBody>
      </p:sp>
      <p:sp>
        <p:nvSpPr>
          <p:cNvPr id="6" name="o = g · o_full + (1 − g) · o_SWA">
            <a:extLst xmlns:a="http://schemas.openxmlformats.org/drawingml/2006/main">
              <a:ext uri="{FF2B5EF4-FFF2-40B4-BE49-F238E27FC236}">
                <a16:creationId xmlns:a16="http://schemas.microsoft.com/office/drawing/2014/main" id="{068EB72F-A7BF-4B79-83A8-B134308D4A33}"/>
              </a:ext>
            </a:extLst>
          </p:cNvPr>
          <p:cNvSpPr>
            <a:spLocks xmlns:a="http://schemas.openxmlformats.org/drawingml/2006/main" noGrp="1"/>
          </p:cNvSpPr>
          <p:nvPr/>
        </p:nvSpPr>
        <p:spPr>
          <a:xfrm xmlns:a="http://schemas.openxmlformats.org/drawingml/2006/main">
            <a:off x="609600" y="336232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92F43"/>
                </a:solidFill>
                <a:latin typeface="Arial"/>
                <a:ea typeface="Arial"/>
                <a:cs typeface="Arial"/>
              </a:defRPr>
            </a:defPPr>
          </a:lstStyle>
          <a:p xmlns:a="http://schemas.openxmlformats.org/drawingml/2006/main">
            <a:pPr algn="l">
              <a:defRPr sz="2700" b="0">
                <a:solidFill>
                  <a:srgbClr val="292F43"/>
                </a:solidFill>
                <a:latin typeface="Arial"/>
                <a:ea typeface="Arial"/>
                <a:cs typeface="Arial"/>
              </a:defRPr>
            </a:pPr>
            <a:r>
              <a:rPr sz="2700" b="0">
                <a:solidFill>
                  <a:srgbClr val="292F43"/>
                </a:solidFill>
                <a:latin typeface="Arial"/>
                <a:ea typeface="Arial"/>
                <a:cs typeface="Arial"/>
              </a:rPr>
              <a:t>o = g · o_full + (1 − g) · o_SWA</a:t>
            </a:r>
          </a:p>
        </p:txBody>
      </p:sp>
      <p:sp>
        <p:nvSpPr>
          <p:cNvPr id="7" name="Training: compute both branches and backpropagate through p&#10;Infe">
            <a:extLst xmlns:a="http://schemas.openxmlformats.org/drawingml/2006/main">
              <a:ext uri="{FF2B5EF4-FFF2-40B4-BE49-F238E27FC236}">
                <a16:creationId xmlns:a16="http://schemas.microsoft.com/office/drawing/2014/main" id="{F0B976AA-2BF8-4C1B-95AA-734CFDD078B6}"/>
              </a:ext>
            </a:extLst>
          </p:cNvPr>
          <p:cNvSpPr>
            <a:spLocks xmlns:a="http://schemas.openxmlformats.org/drawingml/2006/main" noGrp="1"/>
          </p:cNvSpPr>
          <p:nvPr/>
        </p:nvSpPr>
        <p:spPr>
          <a:xfrm xmlns:a="http://schemas.openxmlformats.org/drawingml/2006/main">
            <a:off x="609600" y="4457700"/>
            <a:ext cx="109728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647080"/>
                </a:solidFill>
                <a:latin typeface="Arial"/>
                <a:ea typeface="Arial"/>
                <a:cs typeface="Arial"/>
              </a:defRPr>
            </a:defPPr>
          </a:lstStyle>
          <a:p xmlns:a="http://schemas.openxmlformats.org/drawingml/2006/main">
            <a:pPr algn="l">
              <a:defRPr sz="2175" b="0">
                <a:solidFill>
                  <a:srgbClr val="647080"/>
                </a:solidFill>
                <a:latin typeface="Arial"/>
                <a:ea typeface="Arial"/>
                <a:cs typeface="Arial"/>
              </a:defRPr>
            </a:pPr>
            <a:r>
              <a:rPr sz="2175" b="0">
                <a:solidFill>
                  <a:srgbClr val="647080"/>
                </a:solidFill>
                <a:latin typeface="Arial"/>
                <a:ea typeface="Arial"/>
                <a:cs typeface="Arial"/>
              </a:rPr>
              <a:t>Training: compute both branches and backpropagate through p</a:t>
            </a:r>
          </a:p>
          <a:p xmlns:a="http://schemas.openxmlformats.org/drawingml/2006/main">
            <a:pPr algn="l">
              <a:defRPr sz="2175" b="0">
                <a:solidFill>
                  <a:srgbClr val="647080"/>
                </a:solidFill>
                <a:latin typeface="Arial"/>
                <a:ea typeface="Arial"/>
                <a:cs typeface="Arial"/>
              </a:defRPr>
            </a:pPr>
            <a:r>
              <a:rPr sz="2175" b="0">
                <a:solidFill>
                  <a:srgbClr val="647080"/>
                </a:solidFill>
                <a:latin typeface="Arial"/>
                <a:ea typeface="Arial"/>
                <a:cs typeface="Arial"/>
              </a:rPr>
              <a:t>Inference: use the hard gate and compute only the chosen branch</a:t>
            </a:r>
          </a:p>
        </p:txBody>
      </p:sp>
    </p:spTree>
    <p:extLst>
      <p:ext uri="{BB962C8B-B14F-4D97-AF65-F5344CB8AC3E}">
        <p14:creationId xmlns:p14="http://schemas.microsoft.com/office/powerpoint/2010/main" val="629752823"/>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daptive regularization ablations">
            <a:extLst xmlns:a="http://schemas.openxmlformats.org/drawingml/2006/main">
              <a:ext uri="{FF2B5EF4-FFF2-40B4-BE49-F238E27FC236}">
                <a16:creationId xmlns:a16="http://schemas.microsoft.com/office/drawing/2014/main" id="{6FF94FD8-5B33-4D4B-870C-9126D37D777D}"/>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Adaptive regularization ablations</a:t>
            </a:r>
          </a:p>
        </p:txBody>
      </p:sp>
      <p:pic>
        <p:nvPicPr>
          <p:cNvPr id="2" name="">
            <a:extLst xmlns:a="http://schemas.openxmlformats.org/drawingml/2006/main">
              <a:ext uri="{FF2B5EF4-FFF2-40B4-BE49-F238E27FC236}">
                <a16:creationId xmlns:a16="http://schemas.microsoft.com/office/drawing/2014/main" id="{54881B70-B4E3-42EC-9F7C-612DB2B85D40}"/>
              </a:ext>
            </a:extLst>
          </p:cNvPr>
          <p:cNvPicPr>
            <a:picLocks xmlns:a="http://schemas.openxmlformats.org/drawingml/2006/main" noChangeAspect="1"/>
          </p:cNvPicPr>
          <p:nvPr/>
        </p:nvPicPr>
        <p:blipFill>
          <a:blip xmlns:r="http://schemas.openxmlformats.org/officeDocument/2006/relationships" xmlns:a="http://schemas.openxmlformats.org/drawingml/2006/main" r:embed="Rc7963537167b4e50"/>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2">
            <a:extLst xmlns:a="http://schemas.openxmlformats.org/drawingml/2006/main">
              <a:ext uri="{FF2B5EF4-FFF2-40B4-BE49-F238E27FC236}">
                <a16:creationId xmlns:a16="http://schemas.microsoft.com/office/drawing/2014/main" id="{B9629FE6-C7CD-4BF1-AED4-D9428E3C9B3A}"/>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2</a:t>
            </a:r>
          </a:p>
        </p:txBody>
      </p:sp>
      <p:graphicFrame>
        <p:nvGraphicFramePr>
          <p:cNvPr id="4" name="">
            <a:extLst xmlns:a="http://schemas.openxmlformats.org/drawingml/2006/main">
              <a:ext uri="{FF2B5EF4-FFF2-40B4-BE49-F238E27FC236}">
                <a16:creationId xmlns:a16="http://schemas.microsoft.com/office/drawing/2014/main" id="{97D40BA3-9213-4808-A418-9646272274DE}"/>
              </a:ext>
            </a:extLst>
          </p:cNvPr>
          <p:cNvGraphicFramePr/>
          <p:nvPr/>
        </p:nvGraphicFramePr>
        <p:xfrm>
          <a:off xmlns:a="http://schemas.openxmlformats.org/drawingml/2006/main" x="609600" y="1685925"/>
          <a:ext xmlns:a="http://schemas.openxmlformats.org/drawingml/2006/main" cx="10972800" cy="3476625"/>
        </p:xfrm>
        <a:graphic xmlns:a="http://schemas.openxmlformats.org/drawingml/2006/main">
          <a:graphicData uri="http://schemas.openxmlformats.org/drawingml/2006/table">
            <a:tbl>
              <a:tblPr/>
              <a:tblGrid>
                <a:gridCol w="3848100"/>
                <a:gridCol w="1752600"/>
                <a:gridCol w="1790700"/>
                <a:gridCol w="1790700"/>
                <a:gridCol w="1790700"/>
              </a:tblGrid>
              <a:tr h="695325">
                <a:tc>
                  <a:txBody>
                    <a:bodyPr/>
                    <a:lstStyle/>
                    <a:p>
                      <a:pPr algn="l"/>
                      <a:r>
                        <a:rPr sz="1875" b="1">
                          <a:solidFill>
                            <a:srgbClr val="FFFFFF"/>
                          </a:solidFill>
                          <a:latin typeface="Arial"/>
                          <a:ea typeface="Arial"/>
                          <a:cs typeface="Arial"/>
                        </a:rPr>
                        <a:t>Variant</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GovReport</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MultiNews</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SAMSum</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Average</a:t>
                      </a:r>
                    </a:p>
                  </a:txBody>
                  <a:tcPr marL="133350" marR="114300" marT="114300" marB="114300" anchor="ctr">
                    <a:solidFill>
                      <a:srgbClr val="292F43"/>
                    </a:solidFill>
                  </a:tcPr>
                </a:tc>
              </a:tr>
              <a:tr h="695325">
                <a:tc>
                  <a:txBody>
                    <a:bodyPr/>
                    <a:lstStyle/>
                    <a:p>
                      <a:pPr algn="l"/>
                      <a:r>
                        <a:rPr sz="1875" b="0">
                          <a:solidFill>
                            <a:srgbClr val="292F43"/>
                          </a:solidFill>
                          <a:latin typeface="Arial"/>
                          <a:ea typeface="Arial"/>
                          <a:cs typeface="Arial"/>
                        </a:rPr>
                        <a:t>Without adaptive weight</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24.1</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20.7</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30.0</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24.9</a:t>
                      </a:r>
                    </a:p>
                  </a:txBody>
                  <a:tcPr marL="133350" marR="114300" marT="114300" marB="114300" anchor="ctr">
                    <a:solidFill>
                      <a:srgbClr val="FFFFFF"/>
                    </a:solidFill>
                  </a:tcPr>
                </a:tc>
              </a:tr>
              <a:tr h="695325">
                <a:tc>
                  <a:txBody>
                    <a:bodyPr/>
                    <a:lstStyle/>
                    <a:p>
                      <a:pPr algn="l"/>
                      <a:r>
                        <a:rPr sz="1875" b="0">
                          <a:solidFill>
                            <a:srgbClr val="292F43"/>
                          </a:solidFill>
                          <a:latin typeface="Arial"/>
                          <a:ea typeface="Arial"/>
                          <a:cs typeface="Arial"/>
                        </a:rPr>
                        <a:t>Without NLL</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30.7</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25.3</a:t>
                      </a:r>
                    </a:p>
                  </a:txBody>
                  <a:tcPr marL="133350" marR="114300" marT="114300" marB="114300" anchor="ctr">
                    <a:solidFill>
                      <a:srgbClr val="FFFFFF"/>
                    </a:solidFill>
                  </a:tcPr>
                </a:tc>
              </a:tr>
              <a:tr h="695325">
                <a:tc>
                  <a:txBody>
                    <a:bodyPr/>
                    <a:lstStyle/>
                    <a:p>
                      <a:pPr algn="l"/>
                      <a:r>
                        <a:rPr sz="1875" b="0">
                          <a:solidFill>
                            <a:srgbClr val="292F43"/>
                          </a:solidFill>
                          <a:latin typeface="Arial"/>
                          <a:ea typeface="Arial"/>
                          <a:cs typeface="Arial"/>
                        </a:rPr>
                        <a:t>Without branch MSE</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23.9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29.5</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24.7</a:t>
                      </a:r>
                    </a:p>
                  </a:txBody>
                  <a:tcPr marL="133350" marR="114300" marT="114300" marB="114300" anchor="ctr">
                    <a:solidFill>
                      <a:srgbClr val="FFFFFF"/>
                    </a:solidFill>
                  </a:tcPr>
                </a:tc>
              </a:tr>
              <a:tr h="695325">
                <a:tc>
                  <a:txBody>
                    <a:bodyPr/>
                    <a:lstStyle/>
                    <a:p>
                      <a:pPr algn="l"/>
                      <a:r>
                        <a:rPr sz="1875" b="1">
                          <a:solidFill>
                            <a:srgbClr val="416F51"/>
                          </a:solidFill>
                          <a:latin typeface="Arial"/>
                          <a:ea typeface="Arial"/>
                          <a:cs typeface="Arial"/>
                        </a:rPr>
                        <a:t>SwiAttn</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25.0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21.3</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32.4</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26.2</a:t>
                      </a:r>
                    </a:p>
                  </a:txBody>
                  <a:tcPr marL="133350" marR="114300" marT="114300" marB="114300" anchor="ctr">
                    <a:solidFill>
                      <a:srgbClr val="EEF2F0"/>
                    </a:solidFill>
                  </a:tcPr>
                </a:tc>
              </a:tr>
            </a:tbl>
          </a:graphicData>
        </a:graphic>
      </p:graphicFrame>
      <p:sp>
        <p:nvSpPr>
          <p:cNvPr id="5" name="Scores cover three summarization datasets. Compute-matched ablat">
            <a:extLst xmlns:a="http://schemas.openxmlformats.org/drawingml/2006/main">
              <a:ext uri="{FF2B5EF4-FFF2-40B4-BE49-F238E27FC236}">
                <a16:creationId xmlns:a16="http://schemas.microsoft.com/office/drawing/2014/main" id="{963E69BD-78FD-4460-8E83-55C2AA8ADFB7}"/>
              </a:ext>
            </a:extLst>
          </p:cNvPr>
          <p:cNvSpPr>
            <a:spLocks xmlns:a="http://schemas.openxmlformats.org/drawingml/2006/main" noGrp="1"/>
          </p:cNvSpPr>
          <p:nvPr/>
        </p:nvSpPr>
        <p:spPr>
          <a:xfrm xmlns:a="http://schemas.openxmlformats.org/drawingml/2006/main">
            <a:off x="609600" y="568642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Scores cover three summarization datasets. Compute-matched ablations are not reported.</a:t>
            </a:r>
          </a:p>
        </p:txBody>
      </p:sp>
    </p:spTree>
    <p:extLst>
      <p:ext uri="{BB962C8B-B14F-4D97-AF65-F5344CB8AC3E}">
        <p14:creationId xmlns:p14="http://schemas.microsoft.com/office/powerpoint/2010/main" val="156890560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3B results provide a limited scaling check">
            <a:extLst xmlns:a="http://schemas.openxmlformats.org/drawingml/2006/main">
              <a:ext uri="{FF2B5EF4-FFF2-40B4-BE49-F238E27FC236}">
                <a16:creationId xmlns:a16="http://schemas.microsoft.com/office/drawing/2014/main" id="{870EFC9C-58A2-4340-ABF5-FE463548DF26}"/>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3B results provide a limited scaling check</a:t>
            </a:r>
          </a:p>
        </p:txBody>
      </p:sp>
      <p:pic>
        <p:nvPicPr>
          <p:cNvPr id="2" name="">
            <a:extLst xmlns:a="http://schemas.openxmlformats.org/drawingml/2006/main">
              <a:ext uri="{FF2B5EF4-FFF2-40B4-BE49-F238E27FC236}">
                <a16:creationId xmlns:a16="http://schemas.microsoft.com/office/drawing/2014/main" id="{CD996134-3564-4B08-B844-97D040EBD4CA}"/>
              </a:ext>
            </a:extLst>
          </p:cNvPr>
          <p:cNvPicPr>
            <a:picLocks xmlns:a="http://schemas.openxmlformats.org/drawingml/2006/main" noChangeAspect="1"/>
          </p:cNvPicPr>
          <p:nvPr/>
        </p:nvPicPr>
        <p:blipFill>
          <a:blip xmlns:r="http://schemas.openxmlformats.org/officeDocument/2006/relationships" xmlns:a="http://schemas.openxmlformats.org/drawingml/2006/main" r:embed="Rbf4c6098e1514c62"/>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3">
            <a:extLst xmlns:a="http://schemas.openxmlformats.org/drawingml/2006/main">
              <a:ext uri="{FF2B5EF4-FFF2-40B4-BE49-F238E27FC236}">
                <a16:creationId xmlns:a16="http://schemas.microsoft.com/office/drawing/2014/main" id="{C52249AF-25AD-47E2-AC0F-648B5CB2236B}"/>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3</a:t>
            </a:r>
          </a:p>
        </p:txBody>
      </p:sp>
      <p:graphicFrame>
        <p:nvGraphicFramePr>
          <p:cNvPr id="4" name="">
            <a:extLst xmlns:a="http://schemas.openxmlformats.org/drawingml/2006/main">
              <a:ext uri="{FF2B5EF4-FFF2-40B4-BE49-F238E27FC236}">
                <a16:creationId xmlns:a16="http://schemas.microsoft.com/office/drawing/2014/main" id="{EE8BC69E-21F1-43B2-9317-104F79F74287}"/>
              </a:ext>
            </a:extLst>
          </p:cNvPr>
          <p:cNvGraphicFramePr/>
          <p:nvPr/>
        </p:nvGraphicFramePr>
        <p:xfrm>
          <a:off xmlns:a="http://schemas.openxmlformats.org/drawingml/2006/main" x="609600" y="1809750"/>
          <a:ext xmlns:a="http://schemas.openxmlformats.org/drawingml/2006/main" cx="10972800" cy="3048000"/>
        </p:xfrm>
        <a:graphic xmlns:a="http://schemas.openxmlformats.org/drawingml/2006/main">
          <a:graphicData uri="http://schemas.openxmlformats.org/drawingml/2006/table">
            <a:tbl>
              <a:tblPr/>
              <a:tblGrid>
                <a:gridCol w="6229350"/>
                <a:gridCol w="2371725"/>
                <a:gridCol w="2371725"/>
              </a:tblGrid>
              <a:tr h="762000">
                <a:tc>
                  <a:txBody>
                    <a:bodyPr/>
                    <a:lstStyle/>
                    <a:p>
                      <a:pPr algn="l"/>
                      <a:r>
                        <a:rPr sz="2175" b="1">
                          <a:solidFill>
                            <a:srgbClr val="FFFFFF"/>
                          </a:solidFill>
                          <a:latin typeface="Arial"/>
                          <a:ea typeface="Arial"/>
                          <a:cs typeface="Arial"/>
                        </a:rPr>
                        <a:t>Evaluation</a:t>
                      </a:r>
                    </a:p>
                  </a:txBody>
                  <a:tcPr marL="133350" marR="114300" marT="114300" marB="114300" anchor="ctr">
                    <a:solidFill>
                      <a:srgbClr val="292F43"/>
                    </a:solidFill>
                  </a:tcPr>
                </a:tc>
                <a:tc>
                  <a:txBody>
                    <a:bodyPr/>
                    <a:lstStyle/>
                    <a:p>
                      <a:pPr algn="ctr"/>
                      <a:r>
                        <a:rPr sz="2175" b="1">
                          <a:solidFill>
                            <a:srgbClr val="FFFFFF"/>
                          </a:solidFill>
                          <a:latin typeface="Arial"/>
                          <a:ea typeface="Arial"/>
                          <a:cs typeface="Arial"/>
                        </a:rPr>
                        <a:t>FullAttn</a:t>
                      </a:r>
                    </a:p>
                  </a:txBody>
                  <a:tcPr marL="133350" marR="114300" marT="114300" marB="114300" anchor="ctr">
                    <a:solidFill>
                      <a:srgbClr val="292F43"/>
                    </a:solidFill>
                  </a:tcPr>
                </a:tc>
                <a:tc>
                  <a:txBody>
                    <a:bodyPr/>
                    <a:lstStyle/>
                    <a:p>
                      <a:pPr algn="ctr"/>
                      <a:r>
                        <a:rPr sz="2175" b="1">
                          <a:solidFill>
                            <a:srgbClr val="FFFFFF"/>
                          </a:solidFill>
                          <a:latin typeface="Arial"/>
                          <a:ea typeface="Arial"/>
                          <a:cs typeface="Arial"/>
                        </a:rPr>
                        <a:t>SwiAttn</a:t>
                      </a:r>
                    </a:p>
                  </a:txBody>
                  <a:tcPr marL="133350" marR="114300" marT="114300" marB="114300" anchor="ctr">
                    <a:solidFill>
                      <a:srgbClr val="292F43"/>
                    </a:solidFill>
                  </a:tcPr>
                </a:tc>
              </a:tr>
              <a:tr h="762000">
                <a:tc>
                  <a:txBody>
                    <a:bodyPr/>
                    <a:lstStyle/>
                    <a:p>
                      <a:pPr algn="l"/>
                      <a:r>
                        <a:rPr sz="2175" b="0">
                          <a:solidFill>
                            <a:srgbClr val="292F43"/>
                          </a:solidFill>
                          <a:latin typeface="Arial"/>
                          <a:ea typeface="Arial"/>
                          <a:cs typeface="Arial"/>
                        </a:rPr>
                        <a:t>Commonsense accuracy</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55.9</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55.9</a:t>
                      </a:r>
                    </a:p>
                  </a:txBody>
                  <a:tcPr marL="133350" marR="114300" marT="114300" marB="114300" anchor="ctr">
                    <a:solidFill>
                      <a:srgbClr val="FFFFFF"/>
                    </a:solidFill>
                  </a:tcPr>
                </a:tc>
              </a:tr>
              <a:tr h="762000">
                <a:tc>
                  <a:txBody>
                    <a:bodyPr/>
                    <a:lstStyle/>
                    <a:p>
                      <a:pPr algn="l"/>
                      <a:r>
                        <a:rPr sz="2175" b="0">
                          <a:solidFill>
                            <a:srgbClr val="292F43"/>
                          </a:solidFill>
                          <a:latin typeface="Arial"/>
                          <a:ea typeface="Arial"/>
                          <a:cs typeface="Arial"/>
                        </a:rPr>
                        <a:t>In-context retrieval, 6 tasks</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55.4</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55.8</a:t>
                      </a:r>
                    </a:p>
                  </a:txBody>
                  <a:tcPr marL="133350" marR="114300" marT="114300" marB="114300" anchor="ctr">
                    <a:solidFill>
                      <a:srgbClr val="FFFFFF"/>
                    </a:solidFill>
                  </a:tcPr>
                </a:tc>
              </a:tr>
              <a:tr h="762000">
                <a:tc>
                  <a:txBody>
                    <a:bodyPr/>
                    <a:lstStyle/>
                    <a:p>
                      <a:pPr algn="l"/>
                      <a:r>
                        <a:rPr sz="2175" b="0">
                          <a:solidFill>
                            <a:srgbClr val="292F43"/>
                          </a:solidFill>
                          <a:latin typeface="Arial"/>
                          <a:ea typeface="Arial"/>
                          <a:cs typeface="Arial"/>
                        </a:rPr>
                        <a:t>LongBench-E, 5 tasks</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37.2</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36.6</a:t>
                      </a:r>
                    </a:p>
                  </a:txBody>
                  <a:tcPr marL="133350" marR="114300" marT="114300" marB="114300" anchor="ctr">
                    <a:solidFill>
                      <a:srgbClr val="FFFFFF"/>
                    </a:solidFill>
                  </a:tcPr>
                </a:tc>
              </a:tr>
            </a:tbl>
          </a:graphicData>
        </a:graphic>
      </p:graphicFrame>
      <p:sp>
        <p:nvSpPr>
          <p:cNvPr id="5" name="The long-context average drops by 0.6 points at 3B">
            <a:extLst xmlns:a="http://schemas.openxmlformats.org/drawingml/2006/main">
              <a:ext uri="{FF2B5EF4-FFF2-40B4-BE49-F238E27FC236}">
                <a16:creationId xmlns:a16="http://schemas.microsoft.com/office/drawing/2014/main" id="{2D4E3161-1FC0-492C-AFB3-1C3977C2D831}"/>
              </a:ext>
            </a:extLst>
          </p:cNvPr>
          <p:cNvSpPr>
            <a:spLocks xmlns:a="http://schemas.openxmlformats.org/drawingml/2006/main" noGrp="1"/>
          </p:cNvSpPr>
          <p:nvPr/>
        </p:nvSpPr>
        <p:spPr>
          <a:xfrm xmlns:a="http://schemas.openxmlformats.org/drawingml/2006/main">
            <a:off x="609600" y="52578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92F43"/>
                </a:solidFill>
                <a:latin typeface="Arial"/>
                <a:ea typeface="Arial"/>
                <a:cs typeface="Arial"/>
              </a:defRPr>
            </a:defPPr>
          </a:lstStyle>
          <a:p xmlns:a="http://schemas.openxmlformats.org/drawingml/2006/main">
            <a:pPr algn="l">
              <a:defRPr sz="2325" b="1">
                <a:solidFill>
                  <a:srgbClr val="292F43"/>
                </a:solidFill>
                <a:latin typeface="Arial"/>
                <a:ea typeface="Arial"/>
                <a:cs typeface="Arial"/>
              </a:defRPr>
            </a:pPr>
            <a:r>
              <a:rPr sz="2325" b="1">
                <a:solidFill>
                  <a:srgbClr val="292F43"/>
                </a:solidFill>
                <a:latin typeface="Arial"/>
                <a:ea typeface="Arial"/>
                <a:cs typeface="Arial"/>
              </a:rPr>
              <a:t>The long-context average drops by 0.6 points at 3B</a:t>
            </a:r>
          </a:p>
        </p:txBody>
      </p:sp>
      <p:sp>
        <p:nvSpPr>
          <p:cNvPr id="6" name="Same training schedule and hyperparameters. Larger industrial sc">
            <a:extLst xmlns:a="http://schemas.openxmlformats.org/drawingml/2006/main">
              <a:ext uri="{FF2B5EF4-FFF2-40B4-BE49-F238E27FC236}">
                <a16:creationId xmlns:a16="http://schemas.microsoft.com/office/drawing/2014/main" id="{A8379AA0-DB49-4616-BDA8-EF1B0A280569}"/>
              </a:ext>
            </a:extLst>
          </p:cNvPr>
          <p:cNvSpPr>
            <a:spLocks xmlns:a="http://schemas.openxmlformats.org/drawingml/2006/main" noGrp="1"/>
          </p:cNvSpPr>
          <p:nvPr/>
        </p:nvSpPr>
        <p:spPr>
          <a:xfrm xmlns:a="http://schemas.openxmlformats.org/drawingml/2006/main">
            <a:off x="609600" y="580072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Same training schedule and hyperparameters. Larger industrial scales remain unverified.</a:t>
            </a:r>
          </a:p>
        </p:txBody>
      </p:sp>
    </p:spTree>
    <p:extLst>
      <p:ext uri="{BB962C8B-B14F-4D97-AF65-F5344CB8AC3E}">
        <p14:creationId xmlns:p14="http://schemas.microsoft.com/office/powerpoint/2010/main" val="108804081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IAH accuracy under the same test configuration">
            <a:extLst xmlns:a="http://schemas.openxmlformats.org/drawingml/2006/main">
              <a:ext uri="{FF2B5EF4-FFF2-40B4-BE49-F238E27FC236}">
                <a16:creationId xmlns:a16="http://schemas.microsoft.com/office/drawing/2014/main" id="{4811E935-E6A8-4DA2-BDB1-14C353AD7036}"/>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NIAH accuracy under the same test configuration</a:t>
            </a:r>
          </a:p>
        </p:txBody>
      </p:sp>
      <p:pic>
        <p:nvPicPr>
          <p:cNvPr id="2" name="">
            <a:extLst xmlns:a="http://schemas.openxmlformats.org/drawingml/2006/main">
              <a:ext uri="{FF2B5EF4-FFF2-40B4-BE49-F238E27FC236}">
                <a16:creationId xmlns:a16="http://schemas.microsoft.com/office/drawing/2014/main" id="{EF92949B-0DFF-499E-AE98-D5AD1A916F20}"/>
              </a:ext>
            </a:extLst>
          </p:cNvPr>
          <p:cNvPicPr>
            <a:picLocks xmlns:a="http://schemas.openxmlformats.org/drawingml/2006/main" noChangeAspect="1"/>
          </p:cNvPicPr>
          <p:nvPr/>
        </p:nvPicPr>
        <p:blipFill>
          <a:blip xmlns:r="http://schemas.openxmlformats.org/officeDocument/2006/relationships" xmlns:a="http://schemas.openxmlformats.org/drawingml/2006/main" r:embed="Rd5593f612adc42d5"/>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4">
            <a:extLst xmlns:a="http://schemas.openxmlformats.org/drawingml/2006/main">
              <a:ext uri="{FF2B5EF4-FFF2-40B4-BE49-F238E27FC236}">
                <a16:creationId xmlns:a16="http://schemas.microsoft.com/office/drawing/2014/main" id="{BB5A1E8D-C46A-469C-B958-D0F1550E69A6}"/>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4</a:t>
            </a:r>
          </a:p>
        </p:txBody>
      </p:sp>
      <p:graphicFrame>
        <p:nvGraphicFramePr>
          <p:cNvPr id="4" name="Chart">
            <a:extLst xmlns:a="http://schemas.openxmlformats.org/drawingml/2006/main">
              <a:ext uri="{FF2B5EF4-FFF2-40B4-BE49-F238E27FC236}">
                <a16:creationId xmlns:a16="http://schemas.microsoft.com/office/drawing/2014/main" id="{47425D89-E371-4D1C-ACFC-B77018A286B7}"/>
              </a:ext>
            </a:extLst>
          </p:cNvPr>
          <p:cNvGraphicFramePr/>
          <p:nvPr/>
        </p:nvGraphicFramePr>
        <p:xfrm>
          <a:off xmlns:a="http://schemas.openxmlformats.org/drawingml/2006/main" x="590550" y="1809750"/>
          <a:ext xmlns:a="http://schemas.openxmlformats.org/drawingml/2006/main" cx="10763250" cy="3619500"/>
        </p:xfrm>
        <a:graphic xmlns:a="http://schemas.openxmlformats.org/drawingml/2006/main">
          <a:graphicData uri="http://schemas.openxmlformats.org/drawingml/2006/chart">
            <c:chart xmlns:r="http://schemas.openxmlformats.org/officeDocument/2006/relationships" xmlns:c="http://schemas.openxmlformats.org/drawingml/2006/chart" r:id="Rb9ddeefbf870487a"/>
          </a:graphicData>
        </a:graphic>
      </p:graphicFrame>
      <p:sp>
        <p:nvSpPr>
          <p:cNvPr id="5" name="35 context lengths × 35 needle depths × 3 repeats, through 32K">
            <a:extLst xmlns:a="http://schemas.openxmlformats.org/drawingml/2006/main">
              <a:ext uri="{FF2B5EF4-FFF2-40B4-BE49-F238E27FC236}">
                <a16:creationId xmlns:a16="http://schemas.microsoft.com/office/drawing/2014/main" id="{EF259131-2B94-4251-A799-7DD99B13EF19}"/>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92F43"/>
                </a:solidFill>
                <a:latin typeface="Arial"/>
                <a:ea typeface="Arial"/>
                <a:cs typeface="Arial"/>
              </a:defRPr>
            </a:defPPr>
          </a:lstStyle>
          <a:p xmlns:a="http://schemas.openxmlformats.org/drawingml/2006/main">
            <a:pPr algn="l">
              <a:defRPr sz="2025" b="0">
                <a:solidFill>
                  <a:srgbClr val="292F43"/>
                </a:solidFill>
                <a:latin typeface="Arial"/>
                <a:ea typeface="Arial"/>
                <a:cs typeface="Arial"/>
              </a:defRPr>
            </a:pPr>
            <a:r>
              <a:rPr sz="2025" b="0">
                <a:solidFill>
                  <a:srgbClr val="292F43"/>
                </a:solidFill>
                <a:latin typeface="Arial"/>
                <a:ea typeface="Arial"/>
                <a:cs typeface="Arial"/>
              </a:rPr>
              <a:t>35 context lengths × 35 needle depths × 3 repeats, through 32K</a:t>
            </a:r>
          </a:p>
        </p:txBody>
      </p:sp>
    </p:spTree>
    <p:extLst>
      <p:ext uri="{BB962C8B-B14F-4D97-AF65-F5344CB8AC3E}">
        <p14:creationId xmlns:p14="http://schemas.microsoft.com/office/powerpoint/2010/main" val="6352131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Query tiling makes KV reuse independent of GQA group size">
            <a:extLst xmlns:a="http://schemas.openxmlformats.org/drawingml/2006/main">
              <a:ext uri="{FF2B5EF4-FFF2-40B4-BE49-F238E27FC236}">
                <a16:creationId xmlns:a16="http://schemas.microsoft.com/office/drawing/2014/main" id="{423895FD-2E10-40DF-8CA6-9D586C260A28}"/>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Query tiling makes KV reuse independent of GQA group size</a:t>
            </a:r>
          </a:p>
        </p:txBody>
      </p:sp>
      <p:pic>
        <p:nvPicPr>
          <p:cNvPr id="2" name="">
            <a:extLst xmlns:a="http://schemas.openxmlformats.org/drawingml/2006/main">
              <a:ext uri="{FF2B5EF4-FFF2-40B4-BE49-F238E27FC236}">
                <a16:creationId xmlns:a16="http://schemas.microsoft.com/office/drawing/2014/main" id="{FA1930B5-C3BB-47AE-8342-495A1F056D94}"/>
              </a:ext>
            </a:extLst>
          </p:cNvPr>
          <p:cNvPicPr>
            <a:picLocks xmlns:a="http://schemas.openxmlformats.org/drawingml/2006/main" noChangeAspect="1"/>
          </p:cNvPicPr>
          <p:nvPr/>
        </p:nvPicPr>
        <p:blipFill>
          <a:blip xmlns:r="http://schemas.openxmlformats.org/officeDocument/2006/relationships" xmlns:a="http://schemas.openxmlformats.org/drawingml/2006/main" r:embed="R955e3ff9c31c4127"/>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5">
            <a:extLst xmlns:a="http://schemas.openxmlformats.org/drawingml/2006/main">
              <a:ext uri="{FF2B5EF4-FFF2-40B4-BE49-F238E27FC236}">
                <a16:creationId xmlns:a16="http://schemas.microsoft.com/office/drawing/2014/main" id="{0DA4A387-DC5C-485E-90E1-99077869CD64}"/>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5</a:t>
            </a:r>
          </a:p>
        </p:txBody>
      </p:sp>
      <p:sp>
        <p:nvSpPr>
          <p:cNvPr id="4" name="Group routed query positions by branch&#10;Keep each list in positio">
            <a:extLst xmlns:a="http://schemas.openxmlformats.org/drawingml/2006/main">
              <a:ext uri="{FF2B5EF4-FFF2-40B4-BE49-F238E27FC236}">
                <a16:creationId xmlns:a16="http://schemas.microsoft.com/office/drawing/2014/main" id="{9A7396F8-9271-46C4-897E-A12134755B2A}"/>
              </a:ext>
            </a:extLst>
          </p:cNvPr>
          <p:cNvSpPr>
            <a:spLocks xmlns:a="http://schemas.openxmlformats.org/drawingml/2006/main" noGrp="1"/>
          </p:cNvSpPr>
          <p:nvPr/>
        </p:nvSpPr>
        <p:spPr>
          <a:xfrm xmlns:a="http://schemas.openxmlformats.org/drawingml/2006/main">
            <a:off x="609600" y="1733550"/>
            <a:ext cx="10972800" cy="1343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92F43"/>
                </a:solidFill>
                <a:latin typeface="Arial"/>
                <a:ea typeface="Arial"/>
                <a:cs typeface="Arial"/>
              </a:defRPr>
            </a:defPPr>
          </a:lstStyle>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Group routed query positions by branch</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Keep each list in position order</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Process Bq query positions per tile</a:t>
            </a:r>
          </a:p>
        </p:txBody>
      </p:sp>
      <p:graphicFrame>
        <p:nvGraphicFramePr>
          <p:cNvPr id="5" name="">
            <a:extLst xmlns:a="http://schemas.openxmlformats.org/drawingml/2006/main">
              <a:ext uri="{FF2B5EF4-FFF2-40B4-BE49-F238E27FC236}">
                <a16:creationId xmlns:a16="http://schemas.microsoft.com/office/drawing/2014/main" id="{53441B2E-1D76-40C7-A0E6-B43E92943FAB}"/>
              </a:ext>
            </a:extLst>
          </p:cNvPr>
          <p:cNvGraphicFramePr/>
          <p:nvPr/>
        </p:nvGraphicFramePr>
        <p:xfrm>
          <a:off xmlns:a="http://schemas.openxmlformats.org/drawingml/2006/main" x="609600" y="3609975"/>
          <a:ext xmlns:a="http://schemas.openxmlformats.org/drawingml/2006/main" cx="10972800" cy="1981200"/>
        </p:xfrm>
        <a:graphic xmlns:a="http://schemas.openxmlformats.org/drawingml/2006/main">
          <a:graphicData uri="http://schemas.openxmlformats.org/drawingml/2006/table">
            <a:tbl>
              <a:tblPr/>
              <a:tblGrid>
                <a:gridCol w="5019675"/>
                <a:gridCol w="5953125"/>
              </a:tblGrid>
              <a:tr h="660400">
                <a:tc>
                  <a:txBody>
                    <a:bodyPr/>
                    <a:lstStyle/>
                    <a:p>
                      <a:pPr algn="l"/>
                      <a:r>
                        <a:rPr sz="2175" b="1">
                          <a:solidFill>
                            <a:srgbClr val="FFFFFF"/>
                          </a:solidFill>
                          <a:latin typeface="Arial"/>
                          <a:ea typeface="Arial"/>
                          <a:cs typeface="Arial"/>
                        </a:rPr>
                        <a:t>Kernel pattern</a:t>
                      </a:r>
                    </a:p>
                  </a:txBody>
                  <a:tcPr marL="133350" marR="114300" marT="114300" marB="114300" anchor="ctr">
                    <a:solidFill>
                      <a:srgbClr val="292F43"/>
                    </a:solidFill>
                  </a:tcPr>
                </a:tc>
                <a:tc>
                  <a:txBody>
                    <a:bodyPr/>
                    <a:lstStyle/>
                    <a:p>
                      <a:pPr algn="ctr"/>
                      <a:r>
                        <a:rPr sz="2175" b="1">
                          <a:solidFill>
                            <a:srgbClr val="FFFFFF"/>
                          </a:solidFill>
                          <a:latin typeface="Arial"/>
                          <a:ea typeface="Arial"/>
                          <a:cs typeface="Arial"/>
                        </a:rPr>
                        <a:t>Dominant arithmetic intensity</a:t>
                      </a:r>
                    </a:p>
                  </a:txBody>
                  <a:tcPr marL="133350" marR="114300" marT="114300" marB="114300" anchor="ctr">
                    <a:solidFill>
                      <a:srgbClr val="292F43"/>
                    </a:solidFill>
                  </a:tcPr>
                </a:tc>
              </a:tr>
              <a:tr h="660400">
                <a:tc>
                  <a:txBody>
                    <a:bodyPr/>
                    <a:lstStyle/>
                    <a:p>
                      <a:pPr algn="l"/>
                      <a:r>
                        <a:rPr sz="2175" b="0">
                          <a:solidFill>
                            <a:srgbClr val="292F43"/>
                          </a:solidFill>
                          <a:latin typeface="Arial"/>
                          <a:ea typeface="Arial"/>
                          <a:cs typeface="Arial"/>
                        </a:rPr>
                        <a:t>Q-outer sparse attention</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G · S / (G + S) ≈ G</a:t>
                      </a:r>
                    </a:p>
                  </a:txBody>
                  <a:tcPr marL="133350" marR="114300" marT="114300" marB="114300" anchor="ctr">
                    <a:solidFill>
                      <a:srgbClr val="FFFFFF"/>
                    </a:solidFill>
                  </a:tcPr>
                </a:tc>
              </a:tr>
              <a:tr h="660400">
                <a:tc>
                  <a:txBody>
                    <a:bodyPr/>
                    <a:lstStyle/>
                    <a:p>
                      <a:pPr algn="l"/>
                      <a:r>
                        <a:rPr sz="2175" b="1">
                          <a:solidFill>
                            <a:srgbClr val="416F51"/>
                          </a:solidFill>
                          <a:latin typeface="Arial"/>
                          <a:ea typeface="Arial"/>
                          <a:cs typeface="Arial"/>
                        </a:rPr>
                        <a:t>SwiAttn query tiling</a:t>
                      </a:r>
                    </a:p>
                  </a:txBody>
                  <a:tcPr marL="133350" marR="114300" marT="114300" marB="114300" anchor="ctr">
                    <a:solidFill>
                      <a:srgbClr val="EEF2F0"/>
                    </a:solidFill>
                  </a:tcPr>
                </a:tc>
                <a:tc>
                  <a:txBody>
                    <a:bodyPr/>
                    <a:lstStyle/>
                    <a:p>
                      <a:pPr algn="ctr"/>
                      <a:r>
                        <a:rPr sz="2175" b="1">
                          <a:solidFill>
                            <a:srgbClr val="416F51"/>
                          </a:solidFill>
                          <a:latin typeface="Arial"/>
                          <a:ea typeface="Arial"/>
                          <a:cs typeface="Arial"/>
                        </a:rPr>
                        <a:t>Bq · S / (Bq + S) ≈ Bq</a:t>
                      </a:r>
                    </a:p>
                  </a:txBody>
                  <a:tcPr marL="133350" marR="114300" marT="114300" marB="114300" anchor="ctr">
                    <a:solidFill>
                      <a:srgbClr val="EEF2F0"/>
                    </a:solidFill>
                  </a:tcPr>
                </a:tc>
              </a:tr>
            </a:tbl>
          </a:graphicData>
        </a:graphic>
      </p:graphicFrame>
      <p:sp>
        <p:nvSpPr>
          <p:cNvPr id="6" name="G: GQA group size. S: KV span. Approximation when S is large. No">
            <a:extLst xmlns:a="http://schemas.openxmlformats.org/drawingml/2006/main">
              <a:ext uri="{FF2B5EF4-FFF2-40B4-BE49-F238E27FC236}">
                <a16:creationId xmlns:a16="http://schemas.microsoft.com/office/drawing/2014/main" id="{DA9D404B-56F8-4875-A4F5-E9B748A8F062}"/>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47080"/>
                </a:solidFill>
                <a:latin typeface="Arial"/>
                <a:ea typeface="Arial"/>
                <a:cs typeface="Arial"/>
              </a:defRPr>
            </a:defPPr>
          </a:lstStyle>
          <a:p xmlns:a="http://schemas.openxmlformats.org/drawingml/2006/main">
            <a:pPr algn="l">
              <a:defRPr sz="1725" b="0">
                <a:solidFill>
                  <a:srgbClr val="647080"/>
                </a:solidFill>
                <a:latin typeface="Arial"/>
                <a:ea typeface="Arial"/>
                <a:cs typeface="Arial"/>
              </a:defRPr>
            </a:pPr>
            <a:r>
              <a:rPr sz="1725" b="0">
                <a:solidFill>
                  <a:srgbClr val="647080"/>
                </a:solidFill>
                <a:latin typeface="Arial"/>
                <a:ea typeface="Arial"/>
                <a:cs typeface="Arial"/>
              </a:rPr>
              <a:t>G: GQA group size. S: KV span. Approximation when S is large. No latency claim.</a:t>
            </a:r>
          </a:p>
        </p:txBody>
      </p:sp>
    </p:spTree>
    <p:extLst>
      <p:ext uri="{BB962C8B-B14F-4D97-AF65-F5344CB8AC3E}">
        <p14:creationId xmlns:p14="http://schemas.microsoft.com/office/powerpoint/2010/main" val="537373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ongBench-E results vary by task">
            <a:extLst xmlns:a="http://schemas.openxmlformats.org/drawingml/2006/main">
              <a:ext uri="{FF2B5EF4-FFF2-40B4-BE49-F238E27FC236}">
                <a16:creationId xmlns:a16="http://schemas.microsoft.com/office/drawing/2014/main" id="{C921D8EC-290D-43E0-AACA-04C95FBD6A80}"/>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LongBench-E results vary by task</a:t>
            </a:r>
          </a:p>
        </p:txBody>
      </p:sp>
      <p:pic>
        <p:nvPicPr>
          <p:cNvPr id="2" name="">
            <a:extLst xmlns:a="http://schemas.openxmlformats.org/drawingml/2006/main">
              <a:ext uri="{FF2B5EF4-FFF2-40B4-BE49-F238E27FC236}">
                <a16:creationId xmlns:a16="http://schemas.microsoft.com/office/drawing/2014/main" id="{D40753E7-B12F-4A91-95FD-D6C6D1F11294}"/>
              </a:ext>
            </a:extLst>
          </p:cNvPr>
          <p:cNvPicPr>
            <a:picLocks xmlns:a="http://schemas.openxmlformats.org/drawingml/2006/main" noChangeAspect="1"/>
          </p:cNvPicPr>
          <p:nvPr/>
        </p:nvPicPr>
        <p:blipFill>
          <a:blip xmlns:r="http://schemas.openxmlformats.org/officeDocument/2006/relationships" xmlns:a="http://schemas.openxmlformats.org/drawingml/2006/main" r:embed="R724dc5bb598a478c"/>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6">
            <a:extLst xmlns:a="http://schemas.openxmlformats.org/drawingml/2006/main">
              <a:ext uri="{FF2B5EF4-FFF2-40B4-BE49-F238E27FC236}">
                <a16:creationId xmlns:a16="http://schemas.microsoft.com/office/drawing/2014/main" id="{BF7B1AD0-A68C-4E31-B973-F0C57BE0D216}"/>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6</a:t>
            </a:r>
          </a:p>
        </p:txBody>
      </p:sp>
      <p:graphicFrame>
        <p:nvGraphicFramePr>
          <p:cNvPr id="4" name="">
            <a:extLst xmlns:a="http://schemas.openxmlformats.org/drawingml/2006/main">
              <a:ext uri="{FF2B5EF4-FFF2-40B4-BE49-F238E27FC236}">
                <a16:creationId xmlns:a16="http://schemas.microsoft.com/office/drawing/2014/main" id="{1B99E064-746D-4873-A08E-BDADA218D04A}"/>
              </a:ext>
            </a:extLst>
          </p:cNvPr>
          <p:cNvGraphicFramePr/>
          <p:nvPr/>
        </p:nvGraphicFramePr>
        <p:xfrm>
          <a:off xmlns:a="http://schemas.openxmlformats.org/drawingml/2006/main" x="609600" y="1838325"/>
          <a:ext xmlns:a="http://schemas.openxmlformats.org/drawingml/2006/main" cx="10972800" cy="2571750"/>
        </p:xfrm>
        <a:graphic xmlns:a="http://schemas.openxmlformats.org/drawingml/2006/main">
          <a:graphicData uri="http://schemas.openxmlformats.org/drawingml/2006/table">
            <a:tbl>
              <a:tblPr/>
              <a:tblGrid>
                <a:gridCol w="2286000"/>
                <a:gridCol w="1085850"/>
                <a:gridCol w="1085850"/>
                <a:gridCol w="1085850"/>
                <a:gridCol w="1085850"/>
                <a:gridCol w="1085850"/>
                <a:gridCol w="1085850"/>
                <a:gridCol w="1085850"/>
                <a:gridCol w="1085850"/>
              </a:tblGrid>
              <a:tr h="642938">
                <a:tc>
                  <a:txBody>
                    <a:bodyPr/>
                    <a:lstStyle/>
                    <a:p>
                      <a:pPr algn="l"/>
                      <a:r>
                        <a:rPr sz="1875" b="1">
                          <a:solidFill>
                            <a:srgbClr val="FFFFFF"/>
                          </a:solidFill>
                          <a:latin typeface="Arial"/>
                          <a:ea typeface="Arial"/>
                          <a:cs typeface="Arial"/>
                        </a:rPr>
                        <a:t>Method</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GvR</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MNs</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MFQA</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Qas</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TQA</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SSM</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TRec</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Avg</a:t>
                      </a:r>
                    </a:p>
                  </a:txBody>
                  <a:tcPr marL="133350" marR="114300" marT="114300" marB="114300" anchor="ctr">
                    <a:solidFill>
                      <a:srgbClr val="292F43"/>
                    </a:solidFill>
                  </a:tcPr>
                </a:tc>
              </a:tr>
              <a:tr h="642938">
                <a:tc>
                  <a:txBody>
                    <a:bodyPr/>
                    <a:lstStyle/>
                    <a:p>
                      <a:pPr algn="l"/>
                      <a:r>
                        <a:rPr sz="1875" b="0">
                          <a:solidFill>
                            <a:srgbClr val="292F43"/>
                          </a:solidFill>
                          <a:latin typeface="Arial"/>
                          <a:ea typeface="Arial"/>
                          <a:cs typeface="Arial"/>
                        </a:rPr>
                        <a:t>SH (3:1)</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22.6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20.0</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29.6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14.5</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68.1</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32.3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59.3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35.2</a:t>
                      </a:r>
                    </a:p>
                  </a:txBody>
                  <a:tcPr marL="133350" marR="114300" marT="114300" marB="114300" anchor="ctr">
                    <a:solidFill>
                      <a:srgbClr val="FFFFFF"/>
                    </a:solidFill>
                  </a:tcPr>
                </a:tc>
              </a:tr>
              <a:tr h="642938">
                <a:tc>
                  <a:txBody>
                    <a:bodyPr/>
                    <a:lstStyle/>
                    <a:p>
                      <a:pPr algn="l"/>
                      <a:r>
                        <a:rPr sz="1875" b="0">
                          <a:solidFill>
                            <a:srgbClr val="292F43"/>
                          </a:solidFill>
                          <a:latin typeface="Arial"/>
                          <a:ea typeface="Arial"/>
                          <a:cs typeface="Arial"/>
                        </a:rPr>
                        <a:t>FullAttn</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33.9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18.6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69.3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30.2</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63.7</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37.4</a:t>
                      </a:r>
                    </a:p>
                  </a:txBody>
                  <a:tcPr marL="133350" marR="114300" marT="114300" marB="114300" anchor="ctr">
                    <a:solidFill>
                      <a:srgbClr val="FFFFFF"/>
                    </a:solidFill>
                  </a:tcPr>
                </a:tc>
              </a:tr>
              <a:tr h="642938">
                <a:tc>
                  <a:txBody>
                    <a:bodyPr/>
                    <a:lstStyle/>
                    <a:p>
                      <a:pPr algn="l"/>
                      <a:r>
                        <a:rPr sz="1875" b="1">
                          <a:solidFill>
                            <a:srgbClr val="416F51"/>
                          </a:solidFill>
                          <a:latin typeface="Arial"/>
                          <a:ea typeface="Arial"/>
                          <a:cs typeface="Arial"/>
                        </a:rPr>
                        <a:t>SwiAttn</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25.0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21.3</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35.3</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18.0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69.9</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32.4</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60.0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37.4</a:t>
                      </a:r>
                    </a:p>
                  </a:txBody>
                  <a:tcPr marL="133350" marR="114300" marT="114300" marB="114300" anchor="ctr">
                    <a:solidFill>
                      <a:srgbClr val="EEF2F0"/>
                    </a:solidFill>
                  </a:tcPr>
                </a:tc>
              </a:tr>
            </a:tbl>
          </a:graphicData>
        </a:graphic>
      </p:graphicFrame>
      <p:sp>
        <p:nvSpPr>
          <p:cNvPr id="5" name="Three reported runs: SwiAttn 37.4 ± 0.35, SH (3:1) 35.2 ± 0.44">
            <a:extLst xmlns:a="http://schemas.openxmlformats.org/drawingml/2006/main">
              <a:ext uri="{FF2B5EF4-FFF2-40B4-BE49-F238E27FC236}">
                <a16:creationId xmlns:a16="http://schemas.microsoft.com/office/drawing/2014/main" id="{697CC495-22EF-4F1A-928E-1917A5C71604}"/>
              </a:ext>
            </a:extLst>
          </p:cNvPr>
          <p:cNvSpPr>
            <a:spLocks xmlns:a="http://schemas.openxmlformats.org/drawingml/2006/main" noGrp="1"/>
          </p:cNvSpPr>
          <p:nvPr/>
        </p:nvSpPr>
        <p:spPr>
          <a:xfrm xmlns:a="http://schemas.openxmlformats.org/drawingml/2006/main">
            <a:off x="609600" y="48958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92F43"/>
                </a:solidFill>
                <a:latin typeface="Arial"/>
                <a:ea typeface="Arial"/>
                <a:cs typeface="Arial"/>
              </a:defRPr>
            </a:defPPr>
          </a:lstStyle>
          <a:p xmlns:a="http://schemas.openxmlformats.org/drawingml/2006/main">
            <a:pPr algn="l">
              <a:defRPr sz="2100" b="0">
                <a:solidFill>
                  <a:srgbClr val="292F43"/>
                </a:solidFill>
                <a:latin typeface="Arial"/>
                <a:ea typeface="Arial"/>
                <a:cs typeface="Arial"/>
              </a:defRPr>
            </a:pPr>
            <a:r>
              <a:rPr sz="2100" b="0">
                <a:solidFill>
                  <a:srgbClr val="292F43"/>
                </a:solidFill>
                <a:latin typeface="Arial"/>
                <a:ea typeface="Arial"/>
                <a:cs typeface="Arial"/>
              </a:rPr>
              <a:t>Three reported runs: SwiAttn 37.4 ± 0.35, SH (3:1) 35.2 ± 0.44</a:t>
            </a:r>
          </a:p>
        </p:txBody>
      </p:sp>
      <p:sp>
        <p:nvSpPr>
          <p:cNvPr id="6" name="p &lt; 0.01 vs SH (3:1). A non-significant difference vs FullAttn d">
            <a:extLst xmlns:a="http://schemas.openxmlformats.org/drawingml/2006/main">
              <a:ext uri="{FF2B5EF4-FFF2-40B4-BE49-F238E27FC236}">
                <a16:creationId xmlns:a16="http://schemas.microsoft.com/office/drawing/2014/main" id="{45F95DC7-7E58-4399-BEA0-E4A3D020177E}"/>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p &lt; 0.01 vs SH (3:1). A non-significant difference vs FullAttn does not prove equivalence.</a:t>
            </a:r>
          </a:p>
        </p:txBody>
      </p:sp>
    </p:spTree>
    <p:extLst>
      <p:ext uri="{BB962C8B-B14F-4D97-AF65-F5344CB8AC3E}">
        <p14:creationId xmlns:p14="http://schemas.microsoft.com/office/powerpoint/2010/main" val="2431033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2026-10-05T03:19:15.5960000Z</dcterms:created>
  <dcterms:modified xsi:type="dcterms:W3CDTF">2026-10-05T03:19:15.5960000Z</dcterms:modified>
</coreProperties>
</file>